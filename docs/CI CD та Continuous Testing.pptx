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8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0" r:id="rId30"/>
    <p:sldId id="283" r:id="rId31"/>
    <p:sldId id="284" r:id="rId32"/>
    <p:sldId id="291" r:id="rId33"/>
    <p:sldId id="292" r:id="rId34"/>
    <p:sldId id="293" r:id="rId35"/>
    <p:sldId id="285" r:id="rId36"/>
    <p:sldId id="286" r:id="rId37"/>
    <p:sldId id="287" r:id="rId38"/>
    <p:sldId id="28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7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лекції: CI/CD і Continuous Testing. Перша половина — теорія (навіщо CI/CD, пайплайни, тригери, fail-fast, які тести і коли запускати). Друга половина — живі демо в GitHub Actions та GitLab CI на проєкті Room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головні ідеї лекції простими словами. 1) Fast Feedback Pyramid: чим швидший тест, тим раніше і частіше його запускаємо — розробник дізнається про помилку за секунди, а не за годину. 2) Continuous Testing: тестування — не окрема фаза перед релізом, а безперервний процес у CI. 3) Fail-Fast: падіння на будь-якому етапі зупиняє подальше виконання. 4) Practical Live Flow: цикл, який покажемо наживо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лекції: вступ про Continuous Testing, 14 тем за конспектом і фінальний практичний цикл. Перша половина — теорія, друга — live-демо.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Автоматизація збірки і тестування з'явилася як відповідь на хаос ручних релізів. У Room Booking одночасно змінюються контролери (BookingController), сервіси (BookingService) і репозиторії (JdbcBookingRepository) — ручний контроль цього не витягує.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Розберіть сценарій покроково. Якщо поломку виявляють перед релізом, команда втрачає дні на розплутування конфліктів. Ідея CI/CD — виявляти такі помилки за кілька хвилин після git push. Праворуч — місце для ілюстрації (схема гілок або мем).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Розберіть сценарій покроково. Якщо поломку виявляють перед релізом, команда втрачає дні на розплутування конфліктів. Ідея CI/CD — виявляти такі помилки за кілька хвилин після git push. Праворуч — місце для ілюстрації (схема гілок або мем).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Integration — безперервна інтеграція. Ключові слова: регулярно (щонайменше щодня), спільна кодова база, автоматична перевірка кожної інтеграції збіркою і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Покроковий алгоритм CI. Зверніть увагу на крок 6: червоний білд блокує merge — саме це робить CI «суддею» якості, а не просто інформаційною панеллю.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Найчастіша плутанина — абревіатура CD. Delivery: код завжди готовий до релізу, але реліз — ручне рішення (ручний овнершип). Deployment: реліз відбувається автоматично. Приклад: банк чи медичний сервіс частіше обирає Delivery, SaaS-стартап із сильним набором тестів —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Testing — автотести запускаються регулярно на всіх етапах: розробка, інтеграція змін, доставка. Мета — знайти помилку якомога раніше, до production. Приклад: зміна коду авторизації → push → автоматично перевіряється і вхід у систему, і те, що решта функціоналу не зламалась (регресія).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Спрощена схема: Commit → CI → CT → CD. Після етапу CT є дві гілки: тести пройдено — pipeline іде далі до доставки; тести не пройдено — pipeline зупиняється або блокує реліз. Наголосіть: у реальних пайплайнах тести виконуються на кількох етапах (юніт — одразу після збірки, інтеграційні — після, E2E — на staging тощо).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Шість основних типів тестів у Continuous Testing. Зв'язок із пірамідою: unit — найшвидші й найчисленніші, запускаються на кожен коміт; integration і API — на PR/merge; E2E, performance і security — на пізніших етапах або в нічному прогоні.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Сценарій з інтернет-магазином. Праворуч — як це виглядає у вкладці Checks пул-реквесту: збірка пройшла, юніт-тест на знижку впав (очікували 900.00 — ціна 1000 зі знижкою 10%, а отримали 1000.00, тобто знижку не застосовано), інтеграційні тести пропущено, merge заблоковано. Назва тесту і суми — ілюстративні.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терміни поруч. CI — про інтеграцію і збірку змін. CT — про перевірку якості тестами на всіх етапах. CD — про доставку: Delivery з ручним підтвердженням релізу, Deployment — повністю автоматично в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— це послідовність автоматизованих кроків від push до вердикту. Схема показує вкладеність: Workflow (YAML-файл) містить Stages, кожен Stage — один чи кілька Jobs, кожен Job — команди (steps). Виконує jobs Runner. Далі — кожне поняття окремо.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базові поняття. Під кожним — як це виглядає в реальному YAML (GitHub Actions або GitLab CI), щоб студенти одразу пов'язували термін із конфігурацією.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Діаграма потоку пайплайну зі схеми лекції: Developer Push → Build &amp; Compile → Fast Unit Tests (BookingControllerTest) → Integration Tests (JdbcBookingRepository) → API &amp; Container IT (BookingContainersIT) → Full Regression Suite → Test Report &amp; Artifacts Generation. Читається змійкою: верхній ряд зліва направо, нижній — справа наліво, в кінці — вердикт.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праворуч — реальний синтаксис GitHub Actions. Cron '0 2 * * *' означає щодня о 02:00 за UTC (у GitHub Actions розклад задається в UTC). У GitLab аналог — Pipeline schedules у налаштуваннях проєкту.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PR-пайплайну — дати розробнику відповідь за 2–3 хвилини, поки він ще в контексті задачі. Важкі перевірки переносимо на merge та на нічний прогін.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об'єднує незалежні jobs. Етапи виконуються строго ланцюжком, а jobs усередині одного етапу — паралельно. Приклад: якщо Unit Tests тривають 3 хв, а Static Check 2 хв, паралельно етап займе 3 хв замість 5. У GitHub Actions порядок задається ключем needs, у GitLab — stages (або теж needs).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Fail-Fast — швидка відмова. Порівняння: без цього принципу пайплайн з неробочим кодом марно ганяв би юніт-тести, піднімав Testcontainers і запускав регресію ще ~40 хвилин, і розробник дізнався б про проблему лише в кінці. З Fail-Fast — зупинка й сповіщення на першій хвилині. Обидві популярні CI-системи роблять так за замовчуванням: у GitHub Actions упалий step зупиняє job, залежні jobs (needs) пропускаються; у GitLab наступні stages не стартують. Виняток — кроки з if: always() / when: always (наприклад, вивантаження звітів), про які поговоримо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Праворуч — типова картина в UI: після падіння Unit Tests наступні етапи позначені як skipped. Ненульовий exit code процесу (mvn test повертає 1 при падінні тесту) — це сигнал для CI-системи, що крок провалено.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 Testing — тести виконуються автоматично на кожному етапі життя коду. Чим ліворуч рівень, тим він швидший, дешевший і запускається частіше. Чим праворуч — тим більше покриває, але довше чекати на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Матриця для Room Booking. PR — швидко, тільки найважливіше. Main — повний набір інтеграційних і контейнерних тестів плюс JAR. Nightly — повна регресія, стрес-прогони для виявлення flaky-тестів, безпека й продуктивність.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Міст до попередньої лекції про flaky-тести. Розрахунок на слайді — ілюстративний: навіть «рідкісна» нестабільність при великій кількості тестів робить майже кожен білд червоним. Звідси правило: flaky-тест — у карантин і на виправлення, а не в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Після виконання тестів контейнер або runner знищується, тому все потрібне зберігаємо як звіти та артефакти. Праворуч — місце для скріншоту реального звіту.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Ніколи не комітимо паролі, токени й API-ключі — ні в публічні, ні в приватні репозиторії: історія git зберігає їх назавжди. У коді читаємо змінні оточення, а значення зберігаємо в зашифрованих сховищах CI-системи. CI автоматично маскує значення секретів у логах.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Оркестратор (GitHub/GitLab) лише планує роботу, а команди компіляції й тестів фізично виконує runner. Хмарний runner чистий на кожну job — звідси відтворюваність. Self-hosted потребує обслуговування й уваги до безпеки.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Проєкт для live-демо: github.com/AlexAT-dev/ci-cd-ct-demo. Застосунок навмисно маленький, щоб увага була на пайплайні, а не на коді. Бізнес-логіка (pricing.py) відокремлена від HTTP (main.py) — тому природно розділяються unit- та integration-тести. Smoke-тести запускаються проти реально піднятого Docker-контейнера. Гілки: feature/* → develop → main; main і develop захищені ruleset-ом: тільки через PR і тільки з 5 зеленими перевірками.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 скорочений ci.yml з репозиторію (кроки steps замінено коментарями). Тригери: push у будь-яку гілку, PR у main/develop, schedule — нічний прогін о 03:00 UTC, workflow_dispatch — ручний запуск кнопкою. Ключ needs вибудовує ланцюжок lint → unit → integration → docker: якщо етап упав, наступні не стартують (fail-fast). matrix запускає unit-тести паралельно на двох версіях Python. Назви jobs (name) — це саме ті перевірки, які ruleset вимагає для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Сценарій live-демо. a–b: створюємо гілку, відкриваємо PR у develop (не в main!), показуємо 5 зелених перевірок. c: змінюємо оптову знижку з 5% на 50% — типова помилка «на один нуль». e: падають 2 unit-тести (test_bulk_discount_applied_from_threshold і test_full_quote), integration і docker — skipped завдяки needs (fail-fast); кнопка Merge заблокована ruleset-ом. f: повертаємо 0.05, push у ту саму гілку — CI перезапускається, PR зеленіє. Гілки для сценаріїв варто запушити заздалегідь: CI триває ~1–2 хв.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Так виглядає сторінка PR після сценарію з поламаною знижкою. Час виконання — реальний з GitHub Actions цього репозиторію. Важливо показати: 1) який саме job упав; 2) що наступні jobs пропущені, а не впали; 3) що Merge неможливий без зелених перевірок — це забезпечує ruleset на гілці develop.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Підсумок сценаріїв демо (детально — у README репозиторію). Головна думка CT: різні рівні тестів ловлять різні класи помилок, тому потрібні всі. Unit — бізнес-логіку, integration — контракт API, coverage gate — код без тестів, smoke — проблеми розгортання, нічний прогін — регресії без змін у коді.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cd.yml запускається через workflow_run — тільки після успішного CI на main. Справжня частина: образ публікується в GitHub Container Registry (видно в Packages) з тегами SHA та latest. Імітація: staging і production — це запуск того самого образу на тимчасовій VM GitHub, яка знищується після job. Environment production має Required reviewers — тому пайплайн чекає кнопки Review deployments: це Continuous Delivery. Без reviewers було б Continuous Deployment. У лозі кроку Deploy видно /health з version = SHA коміту. Бонус: docker run -p 8000:8000 ghcr.io/alexat-dev/ci-cd-ct-demo:latest — той самий артефакт запускається локально.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Порівняльна демонстрація: концепція та сама, відрізняються лише синтаксис і UI. Кожна job запускається в Docker-образі maven:3.8.5-openjdk-17. Етапи явно перелічені в stages і виконуються послідовно.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 порівняння. Студентам важливо побачити, що знання переносяться: вивчивши концепції один раз, можна працювати з будь-якою CI-системою (Jenkins, Azure DevOps тощо).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Повний життєвий цикл розробки та перевірки. Попросіть студентів пройти цей цикл самостійно у своїх форках: зламати тест, отримати червоний білд, знайти помилку в лозі, виправити.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 і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59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4519"/>
            <a:ext cx="10566400" cy="4170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59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74519"/>
            <a:ext cx="10566400" cy="4170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AT-dev/ci-cd-ct-demo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156D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12800" y="162687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15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· АВТОМАТИЗАЦІЯ ТЕСТУВАННЯ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4757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00177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Пайплайни, стратегії запуску тестів та інтеграція з GitHub Actions і GitLab CI на </a:t>
            </a:r>
            <a:r>
              <a:rPr lang="en-US" sz="200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прикладі</a:t>
            </a: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проєкт</a:t>
            </a:r>
            <a:r>
              <a:rPr lang="uk-UA" sz="200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ів</a:t>
            </a: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Room Booking</a:t>
            </a:r>
            <a:r>
              <a:rPr lang="uk-UA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 </a:t>
            </a: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Pricing 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4941570"/>
            <a:ext cx="567293" cy="289560"/>
          </a:xfrm>
          <a:custGeom>
            <a:avLst/>
            <a:gdLst/>
            <a:ahLst/>
            <a:cxnLst/>
            <a:rect l="l" t="t" r="r" b="b"/>
            <a:pathLst>
              <a:path w="567293" h="289560">
                <a:moveTo>
                  <a:pt x="144780" y="0"/>
                </a:moveTo>
                <a:lnTo>
                  <a:pt x="422513" y="0"/>
                </a:lnTo>
                <a:arcTo wR="144780" hR="144780" stAng="16200000" swAng="5400000"/>
                <a:lnTo>
                  <a:pt x="567293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693" y="4941570"/>
            <a:ext cx="567214" cy="289560"/>
          </a:xfrm>
          <a:custGeom>
            <a:avLst/>
            <a:gdLst/>
            <a:ahLst/>
            <a:cxnLst/>
            <a:rect l="l" t="t" r="r" b="b"/>
            <a:pathLst>
              <a:path w="567214" h="289560">
                <a:moveTo>
                  <a:pt x="144780" y="0"/>
                </a:moveTo>
                <a:lnTo>
                  <a:pt x="422434" y="0"/>
                </a:lnTo>
                <a:arcTo wR="144780" hR="144780" stAng="16200000" swAng="5400000"/>
                <a:lnTo>
                  <a:pt x="567214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50507" y="4941570"/>
            <a:ext cx="474266" cy="289560"/>
          </a:xfrm>
          <a:custGeom>
            <a:avLst/>
            <a:gdLst/>
            <a:ahLst/>
            <a:cxnLst/>
            <a:rect l="l" t="t" r="r" b="b"/>
            <a:pathLst>
              <a:path w="474266" h="289560">
                <a:moveTo>
                  <a:pt x="144780" y="0"/>
                </a:moveTo>
                <a:lnTo>
                  <a:pt x="329486" y="0"/>
                </a:lnTo>
                <a:arcTo wR="144780" hR="144780" stAng="16200000" swAng="5400000"/>
                <a:lnTo>
                  <a:pt x="474266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26373" y="4941570"/>
            <a:ext cx="643572" cy="289560"/>
          </a:xfrm>
          <a:custGeom>
            <a:avLst/>
            <a:gdLst/>
            <a:ahLst/>
            <a:cxnLst/>
            <a:rect l="l" t="t" r="r" b="b"/>
            <a:pathLst>
              <a:path w="643572" h="289560">
                <a:moveTo>
                  <a:pt x="144780" y="0"/>
                </a:moveTo>
                <a:lnTo>
                  <a:pt x="498792" y="0"/>
                </a:lnTo>
                <a:arcTo wR="144780" hR="144780" stAng="16200000" swAng="5400000"/>
                <a:lnTo>
                  <a:pt x="643572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1545" y="4941570"/>
            <a:ext cx="1024573" cy="289560"/>
          </a:xfrm>
          <a:custGeom>
            <a:avLst/>
            <a:gdLst/>
            <a:ahLst/>
            <a:cxnLst/>
            <a:rect l="l" t="t" r="r" b="b"/>
            <a:pathLst>
              <a:path w="1024573" h="289560">
                <a:moveTo>
                  <a:pt x="144780" y="0"/>
                </a:moveTo>
                <a:lnTo>
                  <a:pt x="879793" y="0"/>
                </a:lnTo>
                <a:arcTo wR="144780" hR="144780" stAng="16200000" swAng="5400000"/>
                <a:lnTo>
                  <a:pt x="1024573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build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ІДЕЇ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ідеї, які варто запам’ятати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5"/>
            <a:ext cx="5200650" cy="1741170"/>
          </a:xfrm>
          <a:prstGeom prst="roundRect">
            <a:avLst>
              <a:gd name="adj" fmla="val 56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347345" cy="238760"/>
          </a:xfrm>
          <a:prstGeom prst="roundRect">
            <a:avLst>
              <a:gd name="adj" fmla="val 21277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20825" y="2095500"/>
            <a:ext cx="20431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Feedback Pyramid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880" y="239776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Швидкі перевірки — першими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1880" y="277876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 — швидкі юніт-тести (секунди), повільні регресійні — пізніше (хвилини, години).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5375" y="1826895"/>
            <a:ext cx="5200650" cy="1741170"/>
          </a:xfrm>
          <a:prstGeom prst="roundRect">
            <a:avLst>
              <a:gd name="adj" fmla="val 56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31280" y="2082800"/>
            <a:ext cx="347345" cy="238760"/>
          </a:xfrm>
          <a:prstGeom prst="roundRect">
            <a:avLst>
              <a:gd name="adj" fmla="val 21277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80225" y="2095500"/>
            <a:ext cx="17032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31280" y="239776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Тестуємо постійно, а не в кінці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31280" y="277876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 не відкладаємо на кінець: вони запускаються автоматично після кожної зміни коду.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975" y="3726815"/>
            <a:ext cx="5200650" cy="1741170"/>
          </a:xfrm>
          <a:prstGeom prst="roundRect">
            <a:avLst>
              <a:gd name="adj" fmla="val 56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71880" y="3982720"/>
            <a:ext cx="347345" cy="238760"/>
          </a:xfrm>
          <a:prstGeom prst="roundRect">
            <a:avLst>
              <a:gd name="adj" fmla="val 21277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20825" y="3995420"/>
            <a:ext cx="7519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Fail-Fast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1880" y="429768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Впало — одразу зупиняємось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1880" y="467868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етап упав, наступні не запускаються — помилку видно одразу, ресурси не витрачаються.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5375" y="3726815"/>
            <a:ext cx="5200650" cy="1741170"/>
          </a:xfrm>
          <a:prstGeom prst="roundRect">
            <a:avLst>
              <a:gd name="adj" fmla="val 56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31280" y="3982720"/>
            <a:ext cx="347345" cy="238760"/>
          </a:xfrm>
          <a:prstGeom prst="roundRect">
            <a:avLst>
              <a:gd name="adj" fmla="val 21277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80225" y="3995420"/>
            <a:ext cx="16465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Live 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1280" y="429768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цикл на практиці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31280" y="467868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Змінили код → push → CI перевіряє → червоний білд → виправили → зелений білд.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лекції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201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12800" y="1892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97000" y="1887220"/>
            <a:ext cx="2115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взагалі CI/CD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582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12800" y="2273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97000" y="22682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CI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2963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12800" y="2654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97000" y="2649220"/>
            <a:ext cx="3533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CD: Delivery vs Deployment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344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12800" y="3035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97000" y="3030220"/>
            <a:ext cx="3817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і його місце в CI/CD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3725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2800" y="3416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7000" y="3411220"/>
            <a:ext cx="4001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чим відрізняються CI, CD і 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106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2800" y="3797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97000" y="3792220"/>
            <a:ext cx="361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Pipeline: stages, jobs, runner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2800" y="4487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12800" y="4178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97000" y="4173220"/>
            <a:ext cx="2400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Події та тригери запуску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4868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12800" y="4559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97000" y="4554220"/>
            <a:ext cx="2650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Організація Jobs та Stages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99200" y="2201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99200" y="1892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3400" y="1887220"/>
            <a:ext cx="175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Fail-Fast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99200" y="2582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99200" y="2273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3400" y="2268220"/>
            <a:ext cx="38718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Testing: що і коли запускати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9200" y="2963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299200" y="2654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83400" y="2649220"/>
            <a:ext cx="18099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і Flaky Tests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99200" y="3344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299200" y="3035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83400" y="3030220"/>
            <a:ext cx="23008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Reports та Artifacts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99200" y="3725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299200" y="3416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83400" y="3411220"/>
            <a:ext cx="3186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та Environment Variables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99200" y="4106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299200" y="3797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83400" y="379222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Agent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99200" y="4487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299200" y="4178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83400" y="4173220"/>
            <a:ext cx="3723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Demos: GitHub Actions і GitLab CI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99200" y="4868545"/>
            <a:ext cx="508000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299200" y="4559300"/>
            <a:ext cx="457200" cy="238760"/>
          </a:xfrm>
          <a:custGeom>
            <a:avLst/>
            <a:gdLst/>
            <a:ahLst/>
            <a:cxnLst/>
            <a:rect l="l" t="t" r="r" b="b"/>
            <a:pathLst>
              <a:path w="457200" h="238760">
                <a:moveTo>
                  <a:pt x="50800" y="0"/>
                </a:moveTo>
                <a:lnTo>
                  <a:pt x="406400" y="0"/>
                </a:lnTo>
                <a:arcTo wR="50800" hR="50800" stAng="16200000" swAng="5400000"/>
                <a:lnTo>
                  <a:pt x="457200" y="187960"/>
                </a:lnTo>
                <a:arcTo wR="50800" hR="50800" stAng="0" swAng="5400000"/>
                <a:lnTo>
                  <a:pt x="50800" y="2387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square" lIns="0" tIns="1270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83400" y="4554220"/>
            <a:ext cx="1849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Practical Flow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 · РУЧНИЙ КОНТРОЛЬ — ВУЗЬКЕ МІСЦЕ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взагалі CI/CD?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5"/>
            <a:ext cx="5200650" cy="1426210"/>
          </a:xfrm>
          <a:prstGeom prst="roundRect">
            <a:avLst>
              <a:gd name="adj" fmla="val 69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Ручні процеси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46380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Збої при ручній компіляції, забуті залежності, тести запускаються «через раз» на машині QA.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5375" y="1826895"/>
            <a:ext cx="5200650" cy="1426210"/>
          </a:xfrm>
          <a:prstGeom prst="roundRect">
            <a:avLst>
              <a:gd name="adj" fmla="val 69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312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Hell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31280" y="246380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людей працюють у своїх гілках, а під час merge конфлікти збираються тижнями.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411855"/>
            <a:ext cx="5200650" cy="1426210"/>
          </a:xfrm>
          <a:prstGeom prst="roundRect">
            <a:avLst>
              <a:gd name="adj" fmla="val 69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1880" y="3667761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мене локально працює»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1880" y="4048761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Інша версія JDK, свої змінні оточення, локальна H2 замість PostgreSQL — і баги ховаються.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5375" y="3411855"/>
            <a:ext cx="5200650" cy="1426210"/>
          </a:xfrm>
          <a:prstGeom prst="roundRect">
            <a:avLst>
              <a:gd name="adj" fmla="val 69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31280" y="3667761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Автоматична перевірка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1280" y="4048761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commit і push перевіряється на нейтральному ізольованому сервері за єдиним стандартом.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 · ПРИКЛАД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народжується Integration Hell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7880" y="2110742"/>
            <a:ext cx="366236" cy="317500"/>
          </a:xfrm>
          <a:custGeom>
            <a:avLst/>
            <a:gdLst/>
            <a:ahLst/>
            <a:cxnLst/>
            <a:rect l="l" t="t" r="r" b="b"/>
            <a:pathLst>
              <a:path w="366236" h="317500">
                <a:moveTo>
                  <a:pt x="158750" y="0"/>
                </a:moveTo>
                <a:lnTo>
                  <a:pt x="207486" y="0"/>
                </a:lnTo>
                <a:arcTo wR="158750" hR="158750" stAng="16200000" swAng="5400000"/>
                <a:lnTo>
                  <a:pt x="366236" y="158750"/>
                </a:lnTo>
                <a:arcTo wR="158750" hR="158750" stAng="0" swAng="5400000"/>
                <a:lnTo>
                  <a:pt x="158750" y="317500"/>
                </a:lnTo>
                <a:arcTo wR="158750" hR="158750" stAng="5400000" swAng="5400000"/>
                <a:lnTo>
                  <a:pt x="0" y="158750"/>
                </a:lnTo>
                <a:arcTo wR="158750" hR="15875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36516" y="2110742"/>
            <a:ext cx="50998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 A змінює сигнатуру в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BookingPolicy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7880" y="2580642"/>
            <a:ext cx="366236" cy="317500"/>
          </a:xfrm>
          <a:custGeom>
            <a:avLst/>
            <a:gdLst/>
            <a:ahLst/>
            <a:cxnLst/>
            <a:rect l="l" t="t" r="r" b="b"/>
            <a:pathLst>
              <a:path w="366236" h="317500">
                <a:moveTo>
                  <a:pt x="158750" y="0"/>
                </a:moveTo>
                <a:lnTo>
                  <a:pt x="207486" y="0"/>
                </a:lnTo>
                <a:arcTo wR="158750" hR="158750" stAng="16200000" swAng="5400000"/>
                <a:lnTo>
                  <a:pt x="366236" y="158750"/>
                </a:lnTo>
                <a:arcTo wR="158750" hR="158750" stAng="0" swAng="5400000"/>
                <a:lnTo>
                  <a:pt x="158750" y="317500"/>
                </a:lnTo>
                <a:arcTo wR="158750" hR="158750" stAng="5400000" swAng="5400000"/>
                <a:lnTo>
                  <a:pt x="0" y="158750"/>
                </a:lnTo>
                <a:arcTo wR="158750" hR="15875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6516" y="2580642"/>
            <a:ext cx="59837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 B одночасно додає новий метод у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BookingService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7880" y="3050542"/>
            <a:ext cx="371316" cy="317500"/>
          </a:xfrm>
          <a:custGeom>
            <a:avLst/>
            <a:gdLst/>
            <a:ahLst/>
            <a:cxnLst/>
            <a:rect l="l" t="t" r="r" b="b"/>
            <a:pathLst>
              <a:path w="371316" h="317500">
                <a:moveTo>
                  <a:pt x="158750" y="0"/>
                </a:moveTo>
                <a:lnTo>
                  <a:pt x="212566" y="0"/>
                </a:lnTo>
                <a:arcTo wR="158750" hR="158750" stAng="16200000" swAng="5400000"/>
                <a:lnTo>
                  <a:pt x="371316" y="158750"/>
                </a:lnTo>
                <a:arcTo wR="158750" hR="158750" stAng="0" swAng="5400000"/>
                <a:lnTo>
                  <a:pt x="158750" y="317500"/>
                </a:lnTo>
                <a:arcTo wR="158750" hR="158750" stAng="5400000" swAng="5400000"/>
                <a:lnTo>
                  <a:pt x="0" y="158750"/>
                </a:lnTo>
                <a:arcTo wR="158750" hR="158750" stAng="10800000" swAng="5400000"/>
                <a:close/>
              </a:path>
            </a:pathLst>
          </a:cu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1596" y="3050542"/>
            <a:ext cx="48009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 в обох усе компілюється й працює.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7880" y="3520442"/>
            <a:ext cx="292100" cy="317500"/>
          </a:xfrm>
          <a:custGeom>
            <a:avLst/>
            <a:gdLst/>
            <a:ahLst/>
            <a:cxnLst/>
            <a:rect l="l" t="t" r="r" b="b"/>
            <a:pathLst>
              <a:path w="292100" h="317500">
                <a:moveTo>
                  <a:pt x="146050" y="0"/>
                </a:moveTo>
                <a:lnTo>
                  <a:pt x="146050" y="0"/>
                </a:lnTo>
                <a:arcTo wR="146050" hR="146050" stAng="16200000" swAng="5400000"/>
                <a:lnTo>
                  <a:pt x="292100" y="171450"/>
                </a:lnTo>
                <a:arcTo wR="146050" hR="146050" stAng="0" swAng="5400000"/>
                <a:lnTo>
                  <a:pt x="146050" y="317500"/>
                </a:lnTo>
                <a:arcTo wR="146050" hR="146050" stAng="5400000" swAng="5400000"/>
                <a:lnTo>
                  <a:pt x="0" y="146050"/>
                </a:lnTo>
                <a:arcTo wR="146050" hR="146050" stAng="10800000" swAng="5400000"/>
                <a:close/>
              </a:path>
            </a:pathLst>
          </a:cu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2380" y="3520442"/>
            <a:ext cx="48486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у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і проєкт повністю ламається.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1055" y="4095117"/>
            <a:ext cx="3016250" cy="902970"/>
          </a:xfrm>
          <a:prstGeom prst="roundRect">
            <a:avLst>
              <a:gd name="adj" fmla="val 1090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26160" y="4249421"/>
            <a:ext cx="26842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CI — помилку знайдуть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6160" y="4488182"/>
            <a:ext cx="26842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дні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96055" y="4095117"/>
            <a:ext cx="3016250" cy="902970"/>
          </a:xfrm>
          <a:prstGeom prst="roundRect">
            <a:avLst>
              <a:gd name="adj" fmla="val 1090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01160" y="4249421"/>
            <a:ext cx="26842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CI — після git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1160" y="4488182"/>
            <a:ext cx="26842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хвилини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lantUML Diagram">
            <a:extLst>
              <a:ext uri="{FF2B5EF4-FFF2-40B4-BE49-F238E27FC236}">
                <a16:creationId xmlns:a16="http://schemas.microsoft.com/office/drawing/2014/main" id="{81E0CB81-6C5D-7F81-2475-AD2A056D6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11" y="1645922"/>
            <a:ext cx="6181778" cy="475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 · ПРИКЛАД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народжується Integration Hell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3800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2 · CONTINUOUS INTEGRATION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CI (Continuous Integration)?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702561"/>
            <a:ext cx="10883392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Практика, за якої члени команди регулярно — </a:t>
            </a:r>
            <a:r>
              <a:rPr lang="en-US" sz="26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щонайменше щодня</a:t>
            </a: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інтегрують свою роботу в спільну кодову базу, і </a:t>
            </a:r>
            <a:r>
              <a:rPr lang="en-US" sz="26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інтеграція автоматично перевіряється</a:t>
            </a: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збіркою та тестами.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5552439"/>
            <a:ext cx="1785382" cy="289560"/>
          </a:xfrm>
          <a:custGeom>
            <a:avLst/>
            <a:gdLst/>
            <a:ahLst/>
            <a:cxnLst/>
            <a:rect l="l" t="t" r="r" b="b"/>
            <a:pathLst>
              <a:path w="1785382" h="289560">
                <a:moveTo>
                  <a:pt x="144780" y="0"/>
                </a:moveTo>
                <a:lnTo>
                  <a:pt x="1640602" y="0"/>
                </a:lnTo>
                <a:arcTo wR="144780" hR="144780" stAng="16200000" swAng="5400000"/>
                <a:lnTo>
                  <a:pt x="1785382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регулярна інтеграція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99782" y="5552439"/>
            <a:ext cx="1745218" cy="289560"/>
          </a:xfrm>
          <a:custGeom>
            <a:avLst/>
            <a:gdLst/>
            <a:ahLst/>
            <a:cxnLst/>
            <a:rect l="l" t="t" r="r" b="b"/>
            <a:pathLst>
              <a:path w="1745218" h="289560">
                <a:moveTo>
                  <a:pt x="144780" y="0"/>
                </a:moveTo>
                <a:lnTo>
                  <a:pt x="1600438" y="0"/>
                </a:lnTo>
                <a:arcTo wR="144780" hR="144780" stAng="16200000" swAng="5400000"/>
                <a:lnTo>
                  <a:pt x="1745218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спільна кодова база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46600" y="5552439"/>
            <a:ext cx="1677352" cy="289560"/>
          </a:xfrm>
          <a:custGeom>
            <a:avLst/>
            <a:gdLst/>
            <a:ahLst/>
            <a:cxnLst/>
            <a:rect l="l" t="t" r="r" b="b"/>
            <a:pathLst>
              <a:path w="1677352" h="289560">
                <a:moveTo>
                  <a:pt x="144780" y="0"/>
                </a:moveTo>
                <a:lnTo>
                  <a:pt x="1532572" y="0"/>
                </a:lnTo>
                <a:arcTo wR="144780" hR="144780" stAng="16200000" swAng="5400000"/>
                <a:lnTo>
                  <a:pt x="1677352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автоматична збірка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5553" y="5552439"/>
            <a:ext cx="1582896" cy="289560"/>
          </a:xfrm>
          <a:custGeom>
            <a:avLst/>
            <a:gdLst/>
            <a:ahLst/>
            <a:cxnLst/>
            <a:rect l="l" t="t" r="r" b="b"/>
            <a:pathLst>
              <a:path w="1582896" h="289560">
                <a:moveTo>
                  <a:pt x="144780" y="0"/>
                </a:moveTo>
                <a:lnTo>
                  <a:pt x="1438116" y="0"/>
                </a:lnTo>
                <a:arcTo wR="144780" hR="144780" stAng="16200000" swAng="5400000"/>
                <a:lnTo>
                  <a:pt x="1582896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автоматичні тести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2 · СТАНДАРТНИЙ ЦИКЛ CI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CI після Push / Pull Request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3414157" cy="1668780"/>
          </a:xfrm>
          <a:prstGeom prst="roundRect">
            <a:avLst>
              <a:gd name="adj" fmla="val 5898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21080" y="2032000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1080" y="2463800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080" y="2787650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Отримати останній код з репозиторію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1080" y="3077211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checkout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82" y="1826896"/>
            <a:ext cx="3414157" cy="1668780"/>
          </a:xfrm>
          <a:prstGeom prst="roundRect">
            <a:avLst>
              <a:gd name="adj" fmla="val 5898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93987" y="2032000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3987" y="2463800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dependencies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3987" y="2787650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Завантажити бібліотеки та залежності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3987" y="3077211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dependency:resolve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789" y="1826896"/>
            <a:ext cx="3414157" cy="1668780"/>
          </a:xfrm>
          <a:prstGeom prst="roundRect">
            <a:avLst>
              <a:gd name="adj" fmla="val 5898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66894" y="2032000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6894" y="2463800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66894" y="2787650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Скомпілювати код проєкту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66894" y="3077211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compile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654425"/>
            <a:ext cx="3414157" cy="1882140"/>
          </a:xfrm>
          <a:prstGeom prst="roundRect">
            <a:avLst>
              <a:gd name="adj" fmla="val 522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21080" y="3859532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21080" y="4291332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1080" y="461518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Юніт-, інтеграційні та API-тести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1080" y="4904739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test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8882" y="3654425"/>
            <a:ext cx="3414157" cy="1882140"/>
          </a:xfrm>
          <a:prstGeom prst="roundRect">
            <a:avLst>
              <a:gd name="adj" fmla="val 522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93987" y="3859532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93987" y="4291332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3987" y="4615182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Звіти про тести й покриття коду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3987" y="4904739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Surefire · JaCoCo · JUnit XML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61789" y="3654425"/>
            <a:ext cx="3414157" cy="1882140"/>
          </a:xfrm>
          <a:prstGeom prst="roundRect">
            <a:avLst>
              <a:gd name="adj" fmla="val 522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66894" y="3859532"/>
            <a:ext cx="30940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66894" y="4291332"/>
            <a:ext cx="309406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status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66894" y="4615182"/>
            <a:ext cx="309406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зелений, </a:t>
            </a: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червоний, merge заблоковано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66894" y="5118100"/>
            <a:ext cx="30940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exit code 0 / ≠ 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3 · ДВІ РІЗНІ МЕЖІ АВТОМАТИЗАЦІЇ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CD: Delivery vs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5200650" cy="2894330"/>
          </a:xfrm>
          <a:prstGeom prst="roundRect">
            <a:avLst>
              <a:gd name="adj" fmla="val 34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540000"/>
            <a:ext cx="48295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Артефакти (jar, Docker image) автоматично збираються й розгортаються на Staging/QA. Код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готовий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продакшну, але реліз запускає людина.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880" y="3759200"/>
            <a:ext cx="584200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2280" y="37833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98980" y="3759200"/>
            <a:ext cx="505301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0481" y="37833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47181" y="3759200"/>
            <a:ext cx="762000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5381" y="37833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52081" y="3759200"/>
            <a:ext cx="1475502" cy="314960"/>
          </a:xfrm>
          <a:prstGeom prst="roundRect">
            <a:avLst>
              <a:gd name="adj" fmla="val 16129"/>
            </a:avLst>
          </a:pr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людини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3783" y="37833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1880" y="4150364"/>
            <a:ext cx="550386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5375" y="1826896"/>
            <a:ext cx="5200650" cy="2894330"/>
          </a:xfrm>
          <a:prstGeom prst="roundRect">
            <a:avLst>
              <a:gd name="adj" fmla="val 340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312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1280" y="2540000"/>
            <a:ext cx="482950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зміна, що пройшла всі етапи пайплайну,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автоматично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потрапляє на Production без участі людини.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1280" y="3492500"/>
            <a:ext cx="584200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91680" y="35166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58380" y="3492500"/>
            <a:ext cx="505301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39881" y="35166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06581" y="3492500"/>
            <a:ext cx="762000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44781" y="351663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11481" y="3492500"/>
            <a:ext cx="1570276" cy="314960"/>
          </a:xfrm>
          <a:prstGeom prst="roundRect">
            <a:avLst>
              <a:gd name="adj" fmla="val 16129"/>
            </a:avLst>
          </a:pr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автоматично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4978400"/>
            <a:ext cx="10566400" cy="571500"/>
          </a:xfrm>
          <a:prstGeom prst="roundRect">
            <a:avLst>
              <a:gd name="adj" fmla="val 17778"/>
            </a:avLst>
          </a:prstGeom>
          <a:solidFill>
            <a:srgbClr val="EEF2F7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нашому курсі: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деплой на продакшн не потрібен, але розуміти цю межу — обов’язково.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Continuous Testing?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(CT)</a:t>
            </a:r>
            <a:r>
              <a:rPr lang="en-US" sz="2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підхід, за якого автоматизовані тести запускаються </a:t>
            </a: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</a:t>
            </a:r>
            <a:r>
              <a:rPr lang="en-US" sz="20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під час розробки, інтеграції змін і доставки програмного забезпечення.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2763521"/>
            <a:ext cx="4118689" cy="3078480"/>
          </a:xfrm>
          <a:prstGeom prst="roundRect">
            <a:avLst>
              <a:gd name="adj" fmla="val 3300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66800" y="3017521"/>
            <a:ext cx="3719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3332479"/>
            <a:ext cx="371901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Знаходити помилки якомога раніше, щоб вони не потрапили до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продуктивного середовища.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87064" y="2766696"/>
            <a:ext cx="6288961" cy="3072130"/>
          </a:xfrm>
          <a:prstGeom prst="roundRect">
            <a:avLst>
              <a:gd name="adj" fmla="val 3204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42970" y="3022600"/>
            <a:ext cx="59504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2970" y="3362964"/>
            <a:ext cx="59504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 змінив код авторизації. Після відправлення змін у Git автоматично запускаються тести: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42970" y="4023364"/>
            <a:ext cx="1930321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коду авторизації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49490" y="404749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16190" y="4023364"/>
            <a:ext cx="795814" cy="314960"/>
          </a:xfrm>
          <a:prstGeom prst="roundRect">
            <a:avLst>
              <a:gd name="adj" fmla="val 16129"/>
            </a:avLst>
          </a:pr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88204" y="404749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54904" y="4023364"/>
            <a:ext cx="2033984" cy="314960"/>
          </a:xfrm>
          <a:prstGeom prst="roundRect">
            <a:avLst>
              <a:gd name="adj" fmla="val 16129"/>
            </a:avLst>
          </a:pr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систему працює?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65088" y="4047492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2970" y="4414521"/>
            <a:ext cx="1719104" cy="314960"/>
          </a:xfrm>
          <a:prstGeom prst="roundRect">
            <a:avLst>
              <a:gd name="adj" fmla="val 16129"/>
            </a:avLst>
          </a:pr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Інше не зламалось?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І CI/CD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Continuous Testing пов’язаний із CI/CD?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автоматизує інтеграцію, перевірку та доставку ПЗ.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— важлива частина цього процесу.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61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6160" y="2847342"/>
            <a:ext cx="196738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Commit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6160" y="3171192"/>
            <a:ext cx="19673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 відправляє зміни в Git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23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7693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9360" y="2847342"/>
            <a:ext cx="196738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(CI)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9360" y="3418842"/>
            <a:ext cx="19673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Збирання коду та інтеграція змін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55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DCE6FB"/>
          </a:solidFill>
          <a:ln w="127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125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2560" y="2847342"/>
            <a:ext cx="196738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(CT)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2560" y="3418842"/>
            <a:ext cx="19673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API та інші автоматизовані тести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487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557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55760" y="2847342"/>
            <a:ext cx="196738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 / Deployment (CD)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5760" y="3418842"/>
            <a:ext cx="19673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Підготовка релізу або автоматичне розгортання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211321"/>
            <a:ext cx="5334000" cy="1031240"/>
          </a:xfrm>
          <a:prstGeom prst="roundRect">
            <a:avLst>
              <a:gd name="adj" fmla="val 9852"/>
            </a:avLst>
          </a:prstGeom>
          <a:solidFill>
            <a:srgbClr val="EEF2F7"/>
          </a:solidFill>
          <a:ln/>
        </p:spPr>
        <p:txBody>
          <a:bodyPr wrap="square" lIns="173442" tIns="122642" rIns="25614" bIns="122642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Важливо: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це спрощена схема. Тести можуть виконуватися на кількох етапах CI/CD, а не лише в одному місці.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2375" y="4214496"/>
            <a:ext cx="5073650" cy="471170"/>
          </a:xfrm>
          <a:prstGeom prst="roundRect">
            <a:avLst>
              <a:gd name="adj" fmla="val 1549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56680" y="4318000"/>
            <a:ext cx="1028541" cy="264160"/>
          </a:xfrm>
          <a:prstGeom prst="roundRect">
            <a:avLst>
              <a:gd name="adj" fmla="val 19231"/>
            </a:avLst>
          </a:pr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6821" y="4343400"/>
            <a:ext cx="28297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Продовжуємо pipeline → етап CD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2375" y="4768217"/>
            <a:ext cx="5073650" cy="471170"/>
          </a:xfrm>
          <a:prstGeom prst="roundRect">
            <a:avLst>
              <a:gd name="adj" fmla="val 1549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56680" y="4871721"/>
            <a:ext cx="1282541" cy="264160"/>
          </a:xfrm>
          <a:prstGeom prst="roundRect">
            <a:avLst>
              <a:gd name="adj" fmla="val 19231"/>
            </a:avLst>
          </a:pr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ПРОЙДЕНО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40821" y="4897121"/>
            <a:ext cx="3201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зупиняється або блокує реліз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 ТЕСТІВ У 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тести використовують у Continuous Testing?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33881"/>
          <a:ext cx="10556240" cy="2684780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тестування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перевіряє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Окремі функції або класи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правильно обчислюється сума замовлення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Взаємодію між компонентами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працює взаємодія сервісу з базою даних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Поведінку API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повертає GET /users правильну відповідь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/ E2E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Роботу користувацького сценарію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може користувач увійти в систему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Швидкодію та навантаження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витримує API 1 000 запитів за секунду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tests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Поширені вразливості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 можна обійти авторизацію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72664"/>
            <a:ext cx="10566400" cy="802640"/>
          </a:xfrm>
          <a:prstGeom prst="roundRect">
            <a:avLst>
              <a:gd name="adj" fmla="val 12658"/>
            </a:avLst>
          </a:prstGeom>
          <a:solidFill>
            <a:srgbClr val="EEF2F7"/>
          </a:solidFill>
          <a:ln/>
        </p:spPr>
        <p:txBody>
          <a:bodyPr wrap="square" lIns="173442" tIns="122642" rIns="0" bIns="972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всі тести запускаються після кожного коміту.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Швидкі тести виконуються частіше, а довгі E2E та performance-тести — на пізніших етапах або за розкладом.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 НА ПРАКТИЦІ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Інтернет-магазин і GitHub Actions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2373" y="1823721"/>
            <a:ext cx="5543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 змінює логіку оплати й створює Pull Request.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174242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2373" y="2174242"/>
            <a:ext cx="2987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запускає збирання проєкту.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524764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2373" y="2524764"/>
            <a:ext cx="5040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 запускає unit та integration tests.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75279"/>
            <a:ext cx="255270" cy="238760"/>
          </a:xfrm>
          <a:custGeom>
            <a:avLst/>
            <a:gdLst/>
            <a:ahLst/>
            <a:cxnLst/>
            <a:rect l="l" t="t" r="r" b="b"/>
            <a:pathLst>
              <a:path w="255270" h="238760">
                <a:moveTo>
                  <a:pt x="119380" y="0"/>
                </a:moveTo>
                <a:lnTo>
                  <a:pt x="135890" y="0"/>
                </a:lnTo>
                <a:arcTo wR="119380" hR="119380" stAng="16200000" swAng="5400000"/>
                <a:lnTo>
                  <a:pt x="255270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5070" y="2875279"/>
            <a:ext cx="559736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тест виявляє, що при оплаті неправильно розраховується знижка.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474721"/>
            <a:ext cx="250031" cy="238760"/>
          </a:xfrm>
          <a:custGeom>
            <a:avLst/>
            <a:gdLst/>
            <a:ahLst/>
            <a:cxnLst/>
            <a:rect l="l" t="t" r="r" b="b"/>
            <a:pathLst>
              <a:path w="250031" h="238760">
                <a:moveTo>
                  <a:pt x="119380" y="0"/>
                </a:moveTo>
                <a:lnTo>
                  <a:pt x="130651" y="0"/>
                </a:lnTo>
                <a:arcTo wR="119380" hR="119380" stAng="16200000" swAng="5400000"/>
                <a:lnTo>
                  <a:pt x="250031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FBE3D6"/>
          </a:solidFill>
          <a:ln/>
        </p:spPr>
        <p:txBody>
          <a:bodyPr wrap="square" lIns="88900" tIns="12700" rIns="3810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9831" y="3474721"/>
            <a:ext cx="560275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позначається як невдалий — команда виправляє помилку до злиття.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074164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2373" y="4074164"/>
            <a:ext cx="5731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успішних перевірок код можна доставити або розгорнути.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593079"/>
            <a:ext cx="612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Проблему виявлено до того, як її побачили реальні користувачі.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37375" y="1826896"/>
            <a:ext cx="4438650" cy="4011930"/>
          </a:xfrm>
          <a:prstGeom prst="roundRect">
            <a:avLst>
              <a:gd name="adj" fmla="val 24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93280" y="2032000"/>
            <a:ext cx="40446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· CHECKS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3280" y="2296164"/>
            <a:ext cx="40446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Оновлено логіку оплати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93280" y="3063879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93280" y="2696214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DCF2E3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7380" y="2703829"/>
            <a:ext cx="254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23496" y="2721614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93280" y="3536315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193280" y="3168650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FBE3D6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380" y="3176271"/>
            <a:ext cx="254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23496" y="3194050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93280" y="4008757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93280" y="3641092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380" y="3648714"/>
            <a:ext cx="2697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67720" y="3666492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3280" y="4138929"/>
            <a:ext cx="404464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PaymentServiceTest &gt;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shouldApplyDiscount() FAILED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expected: &lt;900.00&gt; but was: &lt;1000.00&gt;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3280" y="5318764"/>
            <a:ext cx="3926840" cy="314960"/>
          </a:xfrm>
          <a:prstGeom prst="roundRect">
            <a:avLst>
              <a:gd name="adj" fmla="val 16129"/>
            </a:avLst>
          </a:prstGeom>
          <a:solidFill>
            <a:srgbClr val="FBE3D6"/>
          </a:solidFill>
          <a:ln/>
        </p:spPr>
        <p:txBody>
          <a:bodyPr wrap="square" lIns="30867" tIns="35921" rIns="30867" bIns="1052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is blocked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 · CI, CD І CT РАЗОМ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відрізняються CI, CD і CT?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3414157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880" y="2829564"/>
            <a:ext cx="29894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880" y="3153414"/>
            <a:ext cx="298941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 інтегрує зміни розробників, збирає код і запускає перевірки.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8882" y="1826896"/>
            <a:ext cx="3414236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44787" y="2082800"/>
            <a:ext cx="2989499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44787" y="2829564"/>
            <a:ext cx="29894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4787" y="3153414"/>
            <a:ext cx="2989499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Перевіряє якість і правильність роботи ПЗ автоматизованими тестами протягом усього процесу розробки та доставки.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61868" y="1826896"/>
            <a:ext cx="3414157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17774" y="2082800"/>
            <a:ext cx="2989417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17774" y="2829564"/>
            <a:ext cx="298941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 / Deployment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7774" y="3401064"/>
            <a:ext cx="298941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Delivery: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код автоматично готується до релізу, але випуск може потребувати ручного підтвердження.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17774" y="4472942"/>
            <a:ext cx="298941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успішно перевірені зміни автоматично розгортаються в production.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4 · PIPELINE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Pipeline (Пайплайн)?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10883392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послідовність автоматизованих кроків (</a:t>
            </a: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 </a:t>
            </a: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які проходить код від моменту push до підсумкового рішення про якість.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9150" y="2701292"/>
            <a:ext cx="10553700" cy="2893060"/>
          </a:xfrm>
          <a:prstGeom prst="roundRect">
            <a:avLst>
              <a:gd name="adj" fmla="val 3292"/>
            </a:avLst>
          </a:prstGeom>
          <a:solidFill>
            <a:srgbClr val="FEFEFD"/>
          </a:solidFill>
          <a:ln w="127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0760" y="2857500"/>
            <a:ext cx="104961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/ Pipeline · </a:t>
            </a: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.github/workflows/ci.yml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0760" y="3172464"/>
            <a:ext cx="3091974" cy="1209040"/>
          </a:xfrm>
          <a:prstGeom prst="roundRect">
            <a:avLst>
              <a:gd name="adj" fmla="val 630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7760" y="3299464"/>
            <a:ext cx="29231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BUILD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30935" y="3592196"/>
            <a:ext cx="2831624" cy="659130"/>
          </a:xfrm>
          <a:prstGeom prst="roundRect">
            <a:avLst>
              <a:gd name="adj" fmla="val 1107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59840" y="3695700"/>
            <a:ext cx="2651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compile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9840" y="3934464"/>
            <a:ext cx="26510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compile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94334" y="397002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49934" y="3172464"/>
            <a:ext cx="3092053" cy="1950720"/>
          </a:xfrm>
          <a:prstGeom prst="roundRect">
            <a:avLst>
              <a:gd name="adj" fmla="val 3906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76934" y="3299464"/>
            <a:ext cx="29231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0109" y="3592196"/>
            <a:ext cx="2831703" cy="659130"/>
          </a:xfrm>
          <a:prstGeom prst="roundRect">
            <a:avLst>
              <a:gd name="adj" fmla="val 1107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09014" y="3695700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unit-tests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9014" y="3934464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0109" y="4333875"/>
            <a:ext cx="2831703" cy="659130"/>
          </a:xfrm>
          <a:prstGeom prst="roundRect">
            <a:avLst>
              <a:gd name="adj" fmla="val 1107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09014" y="4437379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static-check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014" y="4676142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checkstyle:check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43587" y="397002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99187" y="3172464"/>
            <a:ext cx="3092053" cy="1209040"/>
          </a:xfrm>
          <a:prstGeom prst="roundRect">
            <a:avLst>
              <a:gd name="adj" fmla="val 6303"/>
            </a:avLst>
          </a:prstGeom>
          <a:solidFill>
            <a:srgbClr val="EEF2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226187" y="3299464"/>
            <a:ext cx="29231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362" y="3592196"/>
            <a:ext cx="2831703" cy="659130"/>
          </a:xfrm>
          <a:prstGeom prst="roundRect">
            <a:avLst>
              <a:gd name="adj" fmla="val 1107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358267" y="3695700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upload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58267" y="3934464"/>
            <a:ext cx="265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upload-artifact</a:t>
            </a:r>
            <a:endParaRPr lang="en-US" sz="1200" dirty="0"/>
          </a:p>
        </p:txBody>
      </p:sp>
      <p:pic>
        <p:nvPicPr>
          <p:cNvPr id="27" name="Image 0" descr="Setting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5229864"/>
            <a:ext cx="203200" cy="203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5224779"/>
            <a:ext cx="77288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job фізично виконується на </a:t>
            </a: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Agent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ізольованій VM чи Docker-контейнері.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4 · ОСНОВНІ ПОНЯТТЯ ПАЙПЛАЙНУ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Stage, Job, Workflow та Runner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5200650" cy="1817370"/>
          </a:xfrm>
          <a:prstGeom prst="roundRect">
            <a:avLst>
              <a:gd name="adj" fmla="val 541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— етап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46380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Логічний етап: Build, Unit Test, Integration Test, Deploy.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880" y="3073400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stage: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5375" y="1826896"/>
            <a:ext cx="5200650" cy="1817370"/>
          </a:xfrm>
          <a:prstGeom prst="roundRect">
            <a:avLst>
              <a:gd name="adj" fmla="val 541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31280" y="20828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— завдання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31280" y="246380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Конкретна задача всередині етапу; складається з команд (steps).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31280" y="3073400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test_job: / build-and-test: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803017"/>
            <a:ext cx="5200650" cy="1817370"/>
          </a:xfrm>
          <a:prstGeom prst="roundRect">
            <a:avLst>
              <a:gd name="adj" fmla="val 541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71880" y="4058921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/ Pipeline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1880" y="4439921"/>
            <a:ext cx="48295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 усього процесу у YAML-файлі конфігурації.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1880" y="4782821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.github/workflows/ci.yml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5375" y="3803017"/>
            <a:ext cx="5200650" cy="1817370"/>
          </a:xfrm>
          <a:prstGeom prst="roundRect">
            <a:avLst>
              <a:gd name="adj" fmla="val 541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31280" y="4058921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Agent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1280" y="4439921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Ізольована VM чи Docker-контейнер, що фізично виконує команди job.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1280" y="5049521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runs-on: ubuntu-latest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4 · ДІАГРАМА ПОТОКУ ПАЙПЛАЙНУ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коду: від push до вердикту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0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DCE6FB"/>
          </a:solidFill>
          <a:ln w="127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75360" y="2061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Тригер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" y="2312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Push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360" y="2579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75050" y="1830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31260" y="2061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31260" y="2312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Compile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1260" y="2579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mvn compile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30950" y="1830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87160" y="2061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87160" y="2312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Unit Tests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7160" y="2579377"/>
            <a:ext cx="2123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BookingControllerTest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6850" y="1830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243060" y="2061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43060" y="2312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43060" y="2579377"/>
            <a:ext cx="2123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JdbcBookingRepository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86850" y="3735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43060" y="3966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3060" y="4217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Container 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43060" y="4484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BookingContainersIT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30950" y="3735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87160" y="3966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87160" y="4217677"/>
            <a:ext cx="20853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 Suite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87160" y="4484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усі тести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75050" y="3735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731260" y="3966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31260" y="4217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Artifacts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731260" y="4484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surefire-reports/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9150" y="3735077"/>
            <a:ext cx="2286000" cy="1193800"/>
          </a:xfrm>
          <a:prstGeom prst="roundRect">
            <a:avLst>
              <a:gd name="adj" fmla="val 6915"/>
            </a:avLst>
          </a:prstGeom>
          <a:solidFill>
            <a:srgbClr val="DCF2E3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75360" y="3966208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5360" y="4217677"/>
            <a:ext cx="20327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FAIL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75360" y="4484377"/>
            <a:ext cx="2032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exit code 0 / 1</a:t>
            </a:r>
            <a:endParaRPr lang="en-US" sz="1200" dirty="0"/>
          </a:p>
        </p:txBody>
      </p:sp>
      <p:pic>
        <p:nvPicPr>
          <p:cNvPr id="36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0700" y="2376177"/>
            <a:ext cx="558800" cy="101600"/>
          </a:xfrm>
          <a:prstGeom prst="rect">
            <a:avLst/>
          </a:prstGeom>
        </p:spPr>
      </p:pic>
      <p:pic>
        <p:nvPicPr>
          <p:cNvPr id="37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6600" y="2376177"/>
            <a:ext cx="558800" cy="101600"/>
          </a:xfrm>
          <a:prstGeom prst="rect">
            <a:avLst/>
          </a:prstGeom>
        </p:spPr>
      </p:pic>
      <p:pic>
        <p:nvPicPr>
          <p:cNvPr id="3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2500" y="2376177"/>
            <a:ext cx="558800" cy="101600"/>
          </a:xfrm>
          <a:prstGeom prst="rect">
            <a:avLst/>
          </a:prstGeom>
        </p:spPr>
      </p:pic>
      <p:pic>
        <p:nvPicPr>
          <p:cNvPr id="39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79050" y="2979427"/>
            <a:ext cx="101600" cy="800100"/>
          </a:xfrm>
          <a:prstGeom prst="rect">
            <a:avLst/>
          </a:prstGeom>
        </p:spPr>
      </p:pic>
      <p:pic>
        <p:nvPicPr>
          <p:cNvPr id="40" name="Image 4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2500" y="4281177"/>
            <a:ext cx="558800" cy="101600"/>
          </a:xfrm>
          <a:prstGeom prst="rect">
            <a:avLst/>
          </a:prstGeom>
        </p:spPr>
      </p:pic>
      <p:pic>
        <p:nvPicPr>
          <p:cNvPr id="41" name="Image 5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16600" y="4281177"/>
            <a:ext cx="558800" cy="101600"/>
          </a:xfrm>
          <a:prstGeom prst="rect">
            <a:avLst/>
          </a:prstGeom>
        </p:spPr>
      </p:pic>
      <p:pic>
        <p:nvPicPr>
          <p:cNvPr id="42" name="Image 6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60700" y="4281177"/>
            <a:ext cx="558800" cy="1016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12800" y="51892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наступний етап </a:t>
            </a: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повільніший і дорожчий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тому дешеві перевірки йдуть першими.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5 · КОЛИ ЗАПУСКАЄТЬСЯ ПАЙПЛАЙН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Події та тригери запуску (Triggers)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33887"/>
          <a:ext cx="10556240" cy="2461260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Тригер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 (GitHub Actions)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Кожен коміт у будь-яку гілку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on: push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Request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Створення або оновлення PR / MR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on: pull_request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to 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Злиття коду в main / master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on: push: branches: [main]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Кнопка «Run pipeline» в UI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on: workflow_dispatch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 розкладом (cron), напр. о 02:00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cron: '0 2 * * *'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4914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потрібно запускати всі тести при кожному «чиху»: гнучкі тригери — запорука швидкого зворотного зв’язку.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5 · ПРАКТИЧНИЙ РОЗПОДІЛ ТРИГЕРІВ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пайплайни — три швидкості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902"/>
            <a:ext cx="3414157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1880" y="2082800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PULL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2397758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9162" y="2804158"/>
            <a:ext cx="288451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1880" y="48615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виконання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1880" y="5176527"/>
            <a:ext cx="298941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хв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388882" y="1826902"/>
            <a:ext cx="3414236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44787" y="2082800"/>
            <a:ext cx="2989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MERGE У MAIN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4787" y="2397758"/>
            <a:ext cx="29894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42069" y="2804158"/>
            <a:ext cx="288459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інтеграційні тести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API-тести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артефактів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4787" y="4861558"/>
            <a:ext cx="2989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виконання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4787" y="5176527"/>
            <a:ext cx="29894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хв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7961868" y="1826902"/>
            <a:ext cx="3414157" cy="4011930"/>
          </a:xfrm>
          <a:prstGeom prst="roundRect">
            <a:avLst>
              <a:gd name="adj" fmla="val 288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17774" y="2082800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ЩОНОЧІ (SCHEDULE)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7774" y="2397758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Suite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15056" y="2804158"/>
            <a:ext cx="288451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/ Security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7774" y="4861558"/>
            <a:ext cx="2989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виконання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7774" y="5176527"/>
            <a:ext cx="298941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хв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6 · ПОСЛІДОВНО VS ПАРАЛЕЛЬНО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Організація Jobs та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82320" y="1823727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09010" y="1823727"/>
            <a:ext cx="23545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паралельно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5415" y="1823727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87815" y="1823727"/>
            <a:ext cx="22237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50" y="2719077"/>
            <a:ext cx="2019300" cy="495300"/>
          </a:xfrm>
          <a:prstGeom prst="roundRect">
            <a:avLst>
              <a:gd name="adj" fmla="val 14103"/>
            </a:avLst>
          </a:prstGeom>
          <a:solidFill>
            <a:srgbClr val="DCE6FB"/>
          </a:solidFill>
          <a:ln w="12700">
            <a:solidFill>
              <a:srgbClr val="2156D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49650" y="2160277"/>
            <a:ext cx="2273300" cy="495300"/>
          </a:xfrm>
          <a:prstGeom prst="roundRect">
            <a:avLst>
              <a:gd name="adj" fmla="val 14103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9650" y="3328677"/>
            <a:ext cx="2273300" cy="495300"/>
          </a:xfrm>
          <a:prstGeom prst="roundRect">
            <a:avLst>
              <a:gd name="adj" fmla="val 14103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4150" y="2719077"/>
            <a:ext cx="2146300" cy="495300"/>
          </a:xfrm>
          <a:prstGeom prst="roundRect">
            <a:avLst>
              <a:gd name="adj" fmla="val 14103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26550" y="2719077"/>
            <a:ext cx="2146300" cy="495300"/>
          </a:xfrm>
          <a:prstGeom prst="roundRect">
            <a:avLst>
              <a:gd name="adj" fmla="val 14103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</a:t>
            </a:r>
            <a:endParaRPr lang="en-US" sz="1400" dirty="0"/>
          </a:p>
        </p:txBody>
      </p:sp>
      <p:pic>
        <p:nvPicPr>
          <p:cNvPr id="13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00" y="2357127"/>
            <a:ext cx="800100" cy="660400"/>
          </a:xfrm>
          <a:prstGeom prst="rect">
            <a:avLst/>
          </a:prstGeom>
        </p:spPr>
      </p:pic>
      <p:pic>
        <p:nvPicPr>
          <p:cNvPr id="1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94000" y="2915927"/>
            <a:ext cx="800100" cy="711200"/>
          </a:xfrm>
          <a:prstGeom prst="rect">
            <a:avLst/>
          </a:prstGeom>
        </p:spPr>
      </p:pic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78500" y="2357127"/>
            <a:ext cx="800100" cy="660400"/>
          </a:xfrm>
          <a:prstGeom prst="rect">
            <a:avLst/>
          </a:prstGeom>
        </p:spPr>
      </p:pic>
      <p:pic>
        <p:nvPicPr>
          <p:cNvPr id="16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78500" y="2915927"/>
            <a:ext cx="800100" cy="711200"/>
          </a:xfrm>
          <a:prstGeom prst="rect">
            <a:avLst/>
          </a:prstGeom>
        </p:spPr>
      </p:pic>
      <p:pic>
        <p:nvPicPr>
          <p:cNvPr id="17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36000" y="2915927"/>
            <a:ext cx="635000" cy="101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5975" y="4112902"/>
            <a:ext cx="6123543" cy="1477010"/>
          </a:xfrm>
          <a:prstGeom prst="roundRect">
            <a:avLst>
              <a:gd name="adj" fmla="val 6664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4878" bIns="150877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build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       </a:t>
            </a:r>
            <a:r>
              <a:rPr lang="en-US" sz="12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...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unit-tests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  { needs: build 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static-check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{ needs: build 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integration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 { needs: [unit-tests, static-check] }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196693" y="4493258"/>
            <a:ext cx="42033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групування: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stage об’єднує незалежні jobs.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196693" y="4782827"/>
            <a:ext cx="420333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order: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stages — строгим ланцюжком, jobs усередині stage — паралельно. </a:t>
            </a: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задає залежність.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7 · ПРИНЦИП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Fail-Fast (швидка відмова)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1088339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Фундаментальне правило CI/CD: </a:t>
            </a: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злам на будь-якому етапі негайно зупиняє подальше виконання</a:t>
            </a: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щоб зекономити час, ресурси й одразу показати проблему.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629533"/>
            <a:ext cx="10560050" cy="1939290"/>
          </a:xfrm>
          <a:prstGeom prst="roundRect">
            <a:avLst>
              <a:gd name="adj" fmla="val 5075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1080" y="2834642"/>
            <a:ext cx="104543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ЗБІРКА ЗЛАМАЛАСЬ НА ПЕРШІЙ ХВИЛИНІ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1080" y="3328677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Fail-Fast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70480" y="3270250"/>
            <a:ext cx="1397000" cy="365760"/>
          </a:xfrm>
          <a:prstGeom prst="roundRect">
            <a:avLst>
              <a:gd name="adj" fmla="val 17361"/>
            </a:avLst>
          </a:prstGeom>
          <a:solidFill>
            <a:srgbClr val="FBE3D6"/>
          </a:solidFill>
          <a:ln/>
        </p:spPr>
        <p:txBody>
          <a:bodyPr wrap="none" lIns="83001" tIns="44901" rIns="83001" bIns="449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FAIL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4630" y="3266442"/>
            <a:ext cx="1334294" cy="373380"/>
          </a:xfrm>
          <a:prstGeom prst="roundRect">
            <a:avLst>
              <a:gd name="adj" fmla="val 15306"/>
            </a:avLst>
          </a:prstGeom>
          <a:solidFill>
            <a:srgbClr val="EEF2F7"/>
          </a:solidFill>
          <a:ln w="12700">
            <a:solidFill>
              <a:srgbClr val="B8C2D1"/>
            </a:solidFill>
            <a:prstDash val="dash"/>
          </a:ln>
        </p:spPr>
        <p:txBody>
          <a:bodyPr wrap="none" lIns="88671" tIns="50571" rIns="88671" bIns="5057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22424" y="3266442"/>
            <a:ext cx="1671399" cy="373380"/>
          </a:xfrm>
          <a:prstGeom prst="roundRect">
            <a:avLst>
              <a:gd name="adj" fmla="val 15306"/>
            </a:avLst>
          </a:prstGeom>
          <a:solidFill>
            <a:srgbClr val="EEF2F7"/>
          </a:solidFill>
          <a:ln w="12700">
            <a:solidFill>
              <a:srgbClr val="B8C2D1"/>
            </a:solidFill>
            <a:prstDash val="dash"/>
          </a:ln>
        </p:spPr>
        <p:txBody>
          <a:bodyPr wrap="none" lIns="88671" tIns="50571" rIns="88671" bIns="5057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Testcontainers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57324" y="3266442"/>
            <a:ext cx="2457847" cy="373380"/>
          </a:xfrm>
          <a:prstGeom prst="roundRect">
            <a:avLst>
              <a:gd name="adj" fmla="val 15306"/>
            </a:avLst>
          </a:prstGeom>
          <a:solidFill>
            <a:srgbClr val="EEF2F7"/>
          </a:solidFill>
          <a:ln w="12700">
            <a:solidFill>
              <a:srgbClr val="B8C2D1"/>
            </a:solidFill>
            <a:prstDash val="dash"/>
          </a:ln>
        </p:spPr>
        <p:txBody>
          <a:bodyPr wrap="none" lIns="88671" tIns="50571" rIns="88671" bIns="5057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Suite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73920" y="32004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 хв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73920" y="3492500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марна робота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1080" y="3986535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Fail-Fast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0480" y="3928108"/>
            <a:ext cx="1397000" cy="365760"/>
          </a:xfrm>
          <a:prstGeom prst="roundRect">
            <a:avLst>
              <a:gd name="adj" fmla="val 17361"/>
            </a:avLst>
          </a:prstGeom>
          <a:solidFill>
            <a:srgbClr val="FBE3D6"/>
          </a:solidFill>
          <a:ln/>
        </p:spPr>
        <p:txBody>
          <a:bodyPr wrap="none" lIns="83001" tIns="44901" rIns="83001" bIns="44901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FAIL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9880" y="3995427"/>
            <a:ext cx="56666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Стоп.</a:t>
            </a: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Решта етапів скасована, розробник отримує сповіщення.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73920" y="3858258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хв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73920" y="4150358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відповіді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4829175"/>
            <a:ext cx="5200650" cy="999490"/>
          </a:xfrm>
          <a:prstGeom prst="roundRect">
            <a:avLst>
              <a:gd name="adj" fmla="val 9848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21080" y="4983485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1080" y="5247642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Упав step — наступні steps job не виконуються; jobs з </a:t>
            </a: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пропускаються.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5375" y="4829175"/>
            <a:ext cx="5200650" cy="999490"/>
          </a:xfrm>
          <a:prstGeom prst="roundRect">
            <a:avLst>
              <a:gd name="adj" fmla="val 9848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80480" y="4983485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0480" y="5247642"/>
            <a:ext cx="49341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Упав stage — наступні stages не стартують, якщо в job не стоїть </a:t>
            </a: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allow_failure: true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7 · ОСНОВНІ ТЕЗИ FAIL-FAST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Падіння — на першій хвилині, а не на сороковій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5500" y="1823727"/>
            <a:ext cx="0" cy="75057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0600" y="1849127"/>
            <a:ext cx="54155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Економія ресурсів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122177"/>
            <a:ext cx="541553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не скомпілювався — немає сенсу запускати Unit Tests чи Testcontainers.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5500" y="2726692"/>
            <a:ext cx="0" cy="53721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90600" y="2752092"/>
            <a:ext cx="54155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Зупинка ланцюжка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600" y="3025142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Упав критичний Smoke Test — важкий Regression Suite не стартує.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5500" y="3416300"/>
            <a:ext cx="0" cy="53721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90600" y="3441700"/>
            <a:ext cx="54155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Швидкий зворотний зв’язок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3714750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Сповіщення про падіння приходить одразу.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5500" y="4105908"/>
            <a:ext cx="0" cy="53721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90600" y="4131308"/>
            <a:ext cx="541553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Чіткий статус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440435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≠ 0 і підсвічений поламаний крок в UI.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56375" y="1826902"/>
            <a:ext cx="4819650" cy="2929890"/>
          </a:xfrm>
          <a:prstGeom prst="roundRect">
            <a:avLst>
              <a:gd name="adj" fmla="val 335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12280" y="2032000"/>
            <a:ext cx="44370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СТАТУС ПАЙПЛАЙНУ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2765423"/>
            <a:ext cx="4307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12280" y="2397758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DCF2E3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6380" y="2405385"/>
            <a:ext cx="2941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823496" y="2423158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3237865"/>
            <a:ext cx="4307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12280" y="2870200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FBE3D6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6380" y="2877827"/>
            <a:ext cx="2941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823496" y="2895600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710307"/>
            <a:ext cx="4307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12280" y="3342642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6380" y="3350258"/>
            <a:ext cx="3089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67720" y="3368042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4182750"/>
            <a:ext cx="4307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815085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6380" y="3822700"/>
            <a:ext cx="3089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67720" y="3840485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4338327"/>
            <a:ext cx="44370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Error: Process completed with exit code 1.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ТЕМИ 8–9 · ПІРАМІДА FAST VS SLOW FEEDBACK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Testing: що і </a:t>
            </a:r>
            <a:r>
              <a:rPr lang="uk-UA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</a:t>
            </a: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i="0" dirty="0" err="1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</a:t>
            </a:r>
            <a:r>
              <a:rPr lang="uk-UA" sz="3200" b="1" i="0" dirty="0" err="1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ється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3727"/>
            <a:ext cx="10566400" cy="101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5803D"/>
              </a:gs>
              <a:gs pos="50000">
                <a:srgbClr val="2156D9"/>
              </a:gs>
              <a:gs pos="100000">
                <a:srgbClr val="C2410C"/>
              </a:gs>
            </a:gsLst>
            <a:lin ang="0" scaled="0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12800" y="2026927"/>
            <a:ext cx="30483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feedback · секунди / хвилини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11799" y="2026927"/>
            <a:ext cx="20674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feedback · години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3449960"/>
            <a:ext cx="2520950" cy="1263650"/>
          </a:xfrm>
          <a:prstGeom prst="roundRect">
            <a:avLst>
              <a:gd name="adj" fmla="val 778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1080" y="3705858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секунди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1080" y="3970027"/>
            <a:ext cx="217406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1080" y="4295142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BookingController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95675" y="3132460"/>
            <a:ext cx="2520950" cy="1581150"/>
          </a:xfrm>
          <a:prstGeom prst="roundRect">
            <a:avLst>
              <a:gd name="adj" fmla="val 6225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00780" y="3705858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хвилина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0780" y="3970027"/>
            <a:ext cx="217406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0780" y="4295142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BookingApiIT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5375" y="2814960"/>
            <a:ext cx="2520950" cy="1898650"/>
          </a:xfrm>
          <a:prstGeom prst="roundRect">
            <a:avLst>
              <a:gd name="adj" fmla="val 5184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80480" y="3705858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хвилини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0480" y="3970027"/>
            <a:ext cx="217406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80480" y="4295142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JdbcRepository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5075" y="2497460"/>
            <a:ext cx="2520950" cy="2216150"/>
          </a:xfrm>
          <a:prstGeom prst="roundRect">
            <a:avLst>
              <a:gd name="adj" fmla="val 444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060180" y="3705858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десятки хвилин+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60180" y="3970027"/>
            <a:ext cx="217406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Regression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60180" y="4295142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Full Suite + 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ТЕМИ 8–9 · ЩО І КОЛИ ЗАПУСКАТИ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Практична матриця запуску тестів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33887"/>
          <a:ext cx="10556239" cy="3632200"/>
        </p:xfrm>
        <a:graphic>
          <a:graphicData uri="http://schemas.openxmlformats.org/drawingml/2006/table">
            <a:tbl>
              <a:tblPr/>
              <a:tblGrid>
                <a:gridCol w="548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запускаємо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(mvn compile)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Unit: BookingControllerTest, BookingPolicyTest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Smoke IT: BookingApiLocalIT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JAR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Integration: JdbcBookingRepositoryTest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&amp; Container: BookingContainersIT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Regression Suite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 &amp; Flaky Detection (повтор 50×)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Scans &amp; Performance Profiling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 виконання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хв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 хв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хв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10 · МІСТ ДО ПОПЕРЕДНЬОЇ ЛЕКЦІЇ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Зв’язок CI/CD із Flaky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Стабільний тест-сюїт —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передумова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того, щоб CI/CD взагалі працював і приносив користь бізнесу.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47602"/>
            <a:ext cx="3414157" cy="1692910"/>
          </a:xfrm>
          <a:prstGeom prst="roundRect">
            <a:avLst>
              <a:gd name="adj" fmla="val 5814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1880" y="2603500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Хибні червоні білди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2984500"/>
            <a:ext cx="298941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 test дає False Failure, хоча код застосунку справний.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8882" y="2347602"/>
            <a:ext cx="3414236" cy="1692910"/>
          </a:xfrm>
          <a:prstGeom prst="roundRect">
            <a:avLst>
              <a:gd name="adj" fmla="val 5814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44787" y="2603500"/>
            <a:ext cx="29894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Синдром Re-run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44787" y="2984500"/>
            <a:ext cx="298949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тисне «Re-run job», і справжні регресії списують на «черговий флейк».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61868" y="2347602"/>
            <a:ext cx="3414157" cy="1692910"/>
          </a:xfrm>
          <a:prstGeom prst="roundRect">
            <a:avLst>
              <a:gd name="adj" fmla="val 5814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17774" y="2603500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Втрата цінності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17774" y="2984500"/>
            <a:ext cx="298941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Нестабільний CI перестає бути надійним суддею якості коду.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975" y="4300860"/>
            <a:ext cx="10560050" cy="1050290"/>
          </a:xfrm>
          <a:prstGeom prst="roundRect">
            <a:avLst>
              <a:gd name="adj" fmla="val 9371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71880" y="4505958"/>
            <a:ext cx="959485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34565" y="4559300"/>
            <a:ext cx="91521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тестів, кожен падає випадково в 5% запусків. Ймовірність хоча б одного червоного білду: 1 − 0,95³⁰ ≈ 0,79 — майже кожен прогін.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38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11 · RUNNER ЗНИЩУЄТЬСЯ — РЕЗУЛЬТАТИ ЛИШАЮТЬСЯ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Reports та Artifacts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5500" y="1823727"/>
            <a:ext cx="0" cy="75057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0600" y="1849127"/>
            <a:ext cx="580796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консолі замало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122177"/>
            <a:ext cx="580796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рядків сирого логу зручно читати в IDE, але не в CI — потрібна структурована візуалізація.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5500" y="2701292"/>
            <a:ext cx="0" cy="750570"/>
          </a:xfrm>
          <a:prstGeom prst="line">
            <a:avLst/>
          </a:prstGeom>
          <a:noFill/>
          <a:ln w="254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90600" y="2726692"/>
            <a:ext cx="580796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Artifact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0600" y="2999742"/>
            <a:ext cx="580796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або папка, що зберігаються після завершення job і доступні для завантаження в UI.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578858"/>
            <a:ext cx="5991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ТИПОВІ АРТЕФАКТИ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922402"/>
            <a:ext cx="2851150" cy="857250"/>
          </a:xfrm>
          <a:prstGeom prst="roundRect">
            <a:avLst>
              <a:gd name="adj" fmla="val 851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44880" y="4025900"/>
            <a:ext cx="26711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XML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4880" y="4264658"/>
            <a:ext cx="26711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Машинозчитуваний формат для UI CI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75075" y="3922402"/>
            <a:ext cx="2851150" cy="857250"/>
          </a:xfrm>
          <a:prstGeom prst="roundRect">
            <a:avLst>
              <a:gd name="adj" fmla="val 851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03980" y="4025900"/>
            <a:ext cx="26711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03980" y="4264658"/>
            <a:ext cx="26711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Surefire, Allure, ExtentReports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975" y="4887602"/>
            <a:ext cx="2851150" cy="651510"/>
          </a:xfrm>
          <a:prstGeom prst="roundRect">
            <a:avLst>
              <a:gd name="adj" fmla="val 1120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44880" y="4991100"/>
            <a:ext cx="26711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880" y="5229858"/>
            <a:ext cx="26711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JaCoCo HTML / XML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75075" y="4887602"/>
            <a:ext cx="2851150" cy="651510"/>
          </a:xfrm>
          <a:prstGeom prst="roundRect">
            <a:avLst>
              <a:gd name="adj" fmla="val 1120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903980" y="4991100"/>
            <a:ext cx="26711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&amp; Screenshots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03980" y="5229858"/>
            <a:ext cx="267114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Скріншоти, відео UI-тестів, app.log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4175" y="4935434"/>
            <a:ext cx="5240399" cy="35305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1200" dirty="0"/>
          </a:p>
        </p:txBody>
      </p:sp>
      <p:pic>
        <p:nvPicPr>
          <p:cNvPr id="1026" name="Picture 2" descr="Интеграция с Allure: структурировать, упростить, стабилизировать / Хабр">
            <a:extLst>
              <a:ext uri="{FF2B5EF4-FFF2-40B4-BE49-F238E27FC236}">
                <a16:creationId xmlns:a16="http://schemas.microsoft.com/office/drawing/2014/main" id="{BCCE0914-CFC3-E859-93C8-36BD6C365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3"/>
          <a:stretch/>
        </p:blipFill>
        <p:spPr bwMode="auto">
          <a:xfrm>
            <a:off x="6739509" y="1595118"/>
            <a:ext cx="5235065" cy="334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12 · БЕЗПЕКА У CI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та Environment Variables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ПОГАНО — хардкод у коді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5975" y="2116460"/>
            <a:ext cx="5200650" cy="623570"/>
          </a:xfrm>
          <a:prstGeom prst="roundRect">
            <a:avLst>
              <a:gd name="adj" fmla="val 15784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32564" bIns="150877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 password = "SuperSecret123";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823727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— змінна оточення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5375" y="2116460"/>
            <a:ext cx="5200650" cy="623570"/>
          </a:xfrm>
          <a:prstGeom prst="roundRect">
            <a:avLst>
              <a:gd name="adj" fmla="val 15784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32564" bIns="150877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 password = System.getenv("DB_PASSWORD");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975" y="3000375"/>
            <a:ext cx="6060916" cy="1477010"/>
          </a:xfrm>
          <a:prstGeom prst="roundRect">
            <a:avLst>
              <a:gd name="adj" fmla="val 6664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6756" bIns="150877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GitHub Actions: секрет прокидається в runner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Run Integration Tests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mvn verify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env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DB_PASSWORD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${{ secrets.DB_PASSWORD 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32466" y="3335027"/>
            <a:ext cx="44771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зберігати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32466" y="3639827"/>
            <a:ext cx="44771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Settings → Secrets and variables →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32466" y="3929385"/>
            <a:ext cx="44771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Settings → CI/CD → Variables (Masked, Protected)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13 · ХТО ВИКОНУЄ PIPELINE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/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виконавець задач пайплайну. GitHub чи GitLab — лише «мозок» (оркестратор), а команди компіляції й тестів фізично виконує runner.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614302"/>
            <a:ext cx="5200650" cy="3224530"/>
          </a:xfrm>
          <a:prstGeom prst="roundRect">
            <a:avLst>
              <a:gd name="adj" fmla="val 3052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1880" y="28702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3302000"/>
            <a:ext cx="48295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Хмарні VM від GitHub / GitLab: Ubuntu, Windows, macOS.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9162" y="3962400"/>
            <a:ext cx="47246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Створюються «з нуля» на кожну job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Ізольовані, нічого не треба адмініструвати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1880" y="5267958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runs-on: ubuntu-latest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2614302"/>
            <a:ext cx="5200650" cy="3224530"/>
          </a:xfrm>
          <a:prstGeom prst="roundRect">
            <a:avLst>
              <a:gd name="adj" fmla="val 3052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31280" y="28702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31280" y="3302000"/>
            <a:ext cx="49415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Власні сервери компанії, підключені до CI-системи.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8562" y="3695700"/>
            <a:ext cx="47246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Економія коштів при великому навантаженні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до закритих корпоративних мереж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31280" y="5267958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runs-on: self-hosted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 — ПРОЄКТ ДЛЯ ДЕМОНСТРАЦІЇ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Проєкт для демо: Shop Pricing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Pricing API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невеликий REST API, що рахує вартість замовлення: оптова знижка та промокоди. БД немає — товари зберігаються в пам’яті.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614302"/>
            <a:ext cx="5200650" cy="3224530"/>
          </a:xfrm>
          <a:prstGeom prst="roundRect">
            <a:avLst>
              <a:gd name="adj" fmla="val 3052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1880" y="28702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Застосунок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880" y="3302000"/>
            <a:ext cx="4829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FastAPI, упакований у Docker-образ.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9162" y="3694176"/>
            <a:ext cx="47246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pricing.py — бізнес-логіка, без HTTP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— ендпоїнти, напр. POST /orders/quote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1880" y="5267958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uvicorn app.main:app --reload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2614302"/>
            <a:ext cx="5200650" cy="3224530"/>
          </a:xfrm>
          <a:prstGeom prst="roundRect">
            <a:avLst>
              <a:gd name="adj" fmla="val 3052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31280" y="2870200"/>
            <a:ext cx="48295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Тести: піраміда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31280" y="3302000"/>
            <a:ext cx="49415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тестів на трьох рівнях.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8562" y="3695700"/>
            <a:ext cx="47246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unit — логіка pricing.py ізольовано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integration — увесь API через TestClient</a:t>
            </a:r>
            <a:endParaRPr lang="en-US" sz="1400" dirty="0"/>
          </a:p>
          <a:p>
            <a:pPr marL="156718" indent="-15671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smoke — проти запущеного контейнера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31280" y="5267958"/>
            <a:ext cx="4688840" cy="314960"/>
          </a:xfrm>
          <a:prstGeom prst="roundRect">
            <a:avLst>
              <a:gd name="adj" fmla="val 16129"/>
            </a:avLst>
          </a:prstGeom>
          <a:solidFill>
            <a:srgbClr val="EEF2F7"/>
          </a:solidFill>
          <a:ln/>
        </p:spPr>
        <p:txBody>
          <a:bodyPr wrap="square" lIns="86721" tIns="35921" rIns="0" bIns="105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pytest --cov    # поріг покриття 90%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 — ОСНОВНА ДЕМОНСТРАЦІЯ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файл ci.yml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26902"/>
            <a:ext cx="4278233" cy="3154680"/>
          </a:xfrm>
          <a:prstGeom prst="roundRect">
            <a:avLst>
              <a:gd name="adj" fmla="val 3333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60236" bIns="150877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.github/workflows/ci.yml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CI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push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branches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["**"]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pull_request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branches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[main, develop]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schedule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cron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"0 3 * * *"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workflow_dispatch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jobs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12800" y="5120640"/>
            <a:ext cx="441312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тести запускаються щоночі навіть без змін у коді (CT).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52958" y="1826902"/>
            <a:ext cx="6123067" cy="3930650"/>
          </a:xfrm>
          <a:prstGeom prst="roundRect">
            <a:avLst>
              <a:gd name="adj" fmla="val 2504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8" tIns="176277" rIns="4891" bIns="150877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lint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Lint (ruff)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 ruff check · ruff format --check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unit-tests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needs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lint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strategy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matrix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python-version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["3.12", "3.13"]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 pytest tests/unit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integration-tests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needs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unit-tests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 pytest --cov   (поріг покриття 90%)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docker-smoke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needs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integration-tests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# docker build + run → pytest tests/smoke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38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Покроковий сценарій демонстрації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7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2373" y="182372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Гілка feature/* → Push → вкладка </a:t>
            </a: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174242"/>
            <a:ext cx="270907" cy="238760"/>
          </a:xfrm>
          <a:custGeom>
            <a:avLst/>
            <a:gdLst/>
            <a:ahLst/>
            <a:cxnLst/>
            <a:rect l="l" t="t" r="r" b="b"/>
            <a:pathLst>
              <a:path w="270907" h="238760">
                <a:moveTo>
                  <a:pt x="119380" y="0"/>
                </a:moveTo>
                <a:lnTo>
                  <a:pt x="151527" y="0"/>
                </a:lnTo>
                <a:arcTo wR="119380" hR="119380" stAng="16200000" swAng="5400000"/>
                <a:lnTo>
                  <a:pt x="270907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0707" y="217424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у develop → 5 перевірок — </a:t>
            </a: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524758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2373" y="252475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Ламаємо логіку: BULK_DISCOUNT 0.05 → 0.5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75285"/>
            <a:ext cx="270907" cy="238760"/>
          </a:xfrm>
          <a:custGeom>
            <a:avLst/>
            <a:gdLst/>
            <a:ahLst/>
            <a:cxnLst/>
            <a:rect l="l" t="t" r="r" b="b"/>
            <a:pathLst>
              <a:path w="270907" h="238760">
                <a:moveTo>
                  <a:pt x="119380" y="0"/>
                </a:moveTo>
                <a:lnTo>
                  <a:pt x="151527" y="0"/>
                </a:lnTo>
                <a:arcTo wR="119380" hR="119380" stAng="16200000" swAng="5400000"/>
                <a:lnTo>
                  <a:pt x="270907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10707" y="2875285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Push → стежимо в реальному часі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225800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2373" y="3225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Build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Unit tests упали, решта — skipped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576327"/>
            <a:ext cx="228600" cy="238760"/>
          </a:xfrm>
          <a:custGeom>
            <a:avLst/>
            <a:gdLst/>
            <a:ahLst/>
            <a:cxnLst/>
            <a:rect l="l" t="t" r="r" b="b"/>
            <a:pathLst>
              <a:path w="228600" h="238760">
                <a:moveTo>
                  <a:pt x="114300" y="0"/>
                </a:moveTo>
                <a:lnTo>
                  <a:pt x="114300" y="0"/>
                </a:lnTo>
                <a:arcTo wR="114300" hR="114300" stAng="16200000" swAng="5400000"/>
                <a:lnTo>
                  <a:pt x="228600" y="124460"/>
                </a:lnTo>
                <a:arcTo wR="114300" hR="114300" stAng="0" swAng="5400000"/>
                <a:lnTo>
                  <a:pt x="114300" y="238760"/>
                </a:lnTo>
                <a:arcTo wR="114300" hR="1143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8400" y="357632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→ Push → зелений статус → Merge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975" y="3930017"/>
            <a:ext cx="6191250" cy="1481328"/>
          </a:xfrm>
          <a:prstGeom prst="roundRect">
            <a:avLst>
              <a:gd name="adj" fmla="val 7789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2846" bIns="150877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app/pricing.py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BULK_DISCOUNT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= Decimal("0.5")</a:t>
            </a:r>
            <a:r>
              <a:rPr lang="en-US" sz="12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# було 0.05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AssertionError</a:t>
            </a: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assert Decimal('50.00') == Decimal('95.00')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 — РЕЗУЛЬТАТ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Червоний PR: що бачить розробник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19656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2373" y="181965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Гілка feature/bulk-discount → PR у develop.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171700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2373" y="21717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(ruff) пройшов — код охайний.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523744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E6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2373" y="252374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упали: знижка рахується неправильно.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75788"/>
            <a:ext cx="255270" cy="238760"/>
          </a:xfrm>
          <a:custGeom>
            <a:avLst/>
            <a:gdLst/>
            <a:ahLst/>
            <a:cxnLst/>
            <a:rect l="l" t="t" r="r" b="b"/>
            <a:pathLst>
              <a:path w="255270" h="238760">
                <a:moveTo>
                  <a:pt x="119380" y="0"/>
                </a:moveTo>
                <a:lnTo>
                  <a:pt x="135890" y="0"/>
                </a:lnTo>
                <a:arcTo wR="119380" hR="119380" stAng="16200000" swAng="5400000"/>
                <a:lnTo>
                  <a:pt x="255270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5070" y="287578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і Docker не запускались — fail-fast (needs).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227832"/>
            <a:ext cx="250031" cy="238760"/>
          </a:xfrm>
          <a:custGeom>
            <a:avLst/>
            <a:gdLst/>
            <a:ahLst/>
            <a:cxnLst/>
            <a:rect l="l" t="t" r="r" b="b"/>
            <a:pathLst>
              <a:path w="250031" h="238760">
                <a:moveTo>
                  <a:pt x="119380" y="0"/>
                </a:moveTo>
                <a:lnTo>
                  <a:pt x="130651" y="0"/>
                </a:lnTo>
                <a:arcTo wR="119380" hR="119380" stAng="16200000" swAng="5400000"/>
                <a:lnTo>
                  <a:pt x="250031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FBE3D6"/>
          </a:solidFill>
          <a:ln/>
        </p:spPr>
        <p:txBody>
          <a:bodyPr wrap="square" lIns="88900" tIns="12700" rIns="3810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9831" y="322783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Ruleset блокує Merge, доки всі 5 перевірок не зелені.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579876"/>
            <a:ext cx="262573" cy="238760"/>
          </a:xfrm>
          <a:custGeom>
            <a:avLst/>
            <a:gdLst/>
            <a:ahLst/>
            <a:cxnLst/>
            <a:rect l="l" t="t" r="r" b="b"/>
            <a:pathLst>
              <a:path w="262573" h="238760">
                <a:moveTo>
                  <a:pt x="119380" y="0"/>
                </a:moveTo>
                <a:lnTo>
                  <a:pt x="143193" y="0"/>
                </a:lnTo>
                <a:arcTo wR="119380" hR="119380" stAng="16200000" swAng="5400000"/>
                <a:lnTo>
                  <a:pt x="262573" y="119380"/>
                </a:lnTo>
                <a:arcTo wR="119380" hR="119380" stAng="0" swAng="5400000"/>
                <a:lnTo>
                  <a:pt x="119380" y="238760"/>
                </a:lnTo>
                <a:arcTo wR="119380" hR="119380" stAng="5400000" swAng="5400000"/>
                <a:lnTo>
                  <a:pt x="0" y="119380"/>
                </a:lnTo>
                <a:arcTo wR="119380" hR="119380" stAng="10800000" swAng="5400000"/>
                <a:close/>
              </a:path>
            </a:pathLst>
          </a:cu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2373" y="357987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→ Push → CI перезапускається → можна мерджити.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5593079"/>
            <a:ext cx="612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Помилку зупинено ще до develop — не кажучи вже про production.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37375" y="1826896"/>
            <a:ext cx="4438650" cy="4011930"/>
          </a:xfrm>
          <a:prstGeom prst="roundRect">
            <a:avLst>
              <a:gd name="adj" fmla="val 2453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93280" y="2032000"/>
            <a:ext cx="40446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· CHECKS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3280" y="2296164"/>
            <a:ext cx="40446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bulk discount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93280" y="3063879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93280" y="2696214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DCF2E3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47380" y="2703829"/>
            <a:ext cx="254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(ruff)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23496" y="2721614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93280" y="3536315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193280" y="3168650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FBE3D6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380" y="3176271"/>
            <a:ext cx="2548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(3.12, 3.13)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23496" y="3194050"/>
            <a:ext cx="3474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93280" y="4008757"/>
            <a:ext cx="3926840" cy="0"/>
          </a:xfrm>
          <a:prstGeom prst="line">
            <a:avLst/>
          </a:prstGeom>
          <a:noFill/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93280" y="3641092"/>
            <a:ext cx="952500" cy="264160"/>
          </a:xfrm>
          <a:prstGeom prst="roundRect">
            <a:avLst>
              <a:gd name="adj" fmla="val 19231"/>
            </a:avLst>
          </a:prstGeom>
          <a:solidFill>
            <a:srgbClr val="EEF2F7"/>
          </a:solidFill>
          <a:ln/>
        </p:spPr>
        <p:txBody>
          <a:bodyPr wrap="square" lIns="35921" tIns="10521" rIns="359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47380" y="3648714"/>
            <a:ext cx="26973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+ Docker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67720" y="3666492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3280" y="4138929"/>
            <a:ext cx="404464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test_pricing.py::TestLineTotal::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test_bulk_discount_applied_from_threshold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C241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 Decimal('50.00') == Decimal('95.00')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93280" y="5318764"/>
            <a:ext cx="3926840" cy="314960"/>
          </a:xfrm>
          <a:prstGeom prst="roundRect">
            <a:avLst>
              <a:gd name="adj" fmla="val 16129"/>
            </a:avLst>
          </a:prstGeom>
          <a:solidFill>
            <a:srgbClr val="FBE3D6"/>
          </a:solidFill>
          <a:ln/>
        </p:spPr>
        <p:txBody>
          <a:bodyPr wrap="square" lIns="30867" tIns="35921" rIns="30867" bIns="1052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is blocked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 — CONTINUOUS TESTING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рівень тестів ловить свої помилки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422908"/>
              </p:ext>
            </p:extLst>
          </p:nvPr>
        </p:nvGraphicFramePr>
        <p:xfrm>
          <a:off x="822959" y="1833887"/>
          <a:ext cx="10488168" cy="249809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змінюємо в коді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впало в CI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Висновок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 промокод SAVE20 + тест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Нічого — 5/5 зелені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можна мерджити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BULK_DISCOUNT 0.05 → 0.5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Помилку в логіці видно за секунди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/products: 201 → 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Unit-тести не бачать HTTP-контракт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loyalty_discount() без тестів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gate: 86% &lt; 90%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без тестів не проходить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Dockerfile: порт 8000 → 8080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+ smoke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правильний, зламане розгортання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 — нічний cron 03:00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schedule-прогін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Регресії від оновлених залежностей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55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55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1 — CONTINUOUS DELIVERY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CD: шлях від main до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стартує лише після зеленого CI на main. </a:t>
            </a: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— тільки після ручного підтвердження.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61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6160" y="2847342"/>
            <a:ext cx="196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у main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6160" y="3172968"/>
            <a:ext cx="19673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develop → main, CI проходить ще раз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623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7693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9360" y="2847342"/>
            <a:ext cx="196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push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9360" y="3172968"/>
            <a:ext cx="19673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Docker-образ з тегом SHA публікується в GHCR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55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DCE6FB"/>
          </a:solidFill>
          <a:ln w="12700">
            <a:solidFill>
              <a:srgbClr val="215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125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2560" y="2847342"/>
            <a:ext cx="196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2560" y="3172968"/>
            <a:ext cx="19673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Автоматичне розгортання + smoke-тести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023871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48750" y="2350771"/>
            <a:ext cx="2324100" cy="1701800"/>
          </a:xfrm>
          <a:prstGeom prst="roundRect">
            <a:avLst>
              <a:gd name="adj" fmla="val 5597"/>
            </a:avLst>
          </a:prstGeom>
          <a:solidFill>
            <a:srgbClr val="FEFEFD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55760" y="2557779"/>
            <a:ext cx="1967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55760" y="2847342"/>
            <a:ext cx="196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5760" y="3172968"/>
            <a:ext cx="19673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deployments → Approve → smoke-тести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211321"/>
            <a:ext cx="5334000" cy="1031240"/>
          </a:xfrm>
          <a:prstGeom prst="roundRect">
            <a:avLst>
              <a:gd name="adj" fmla="val 9852"/>
            </a:avLst>
          </a:prstGeom>
          <a:solidFill>
            <a:srgbClr val="EEF2F7"/>
          </a:solidFill>
          <a:ln/>
        </p:spPr>
        <p:txBody>
          <a:bodyPr wrap="square" lIns="173442" tIns="122642" rIns="25614" bIns="122642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Важливо: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 демо деплой — імітація: образ із GHCR запускається на тимчасовому runner. У реальному проєкті змінюється лише цей крок: ssh, kubectl, Render тощо.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2375" y="4214496"/>
            <a:ext cx="5073650" cy="471170"/>
          </a:xfrm>
          <a:prstGeom prst="roundRect">
            <a:avLst>
              <a:gd name="adj" fmla="val 1549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56680" y="4318000"/>
            <a:ext cx="1028541" cy="264160"/>
          </a:xfrm>
          <a:prstGeom prst="roundRect">
            <a:avLst>
              <a:gd name="adj" fmla="val 19231"/>
            </a:avLst>
          </a:prstGeom>
          <a:solidFill>
            <a:srgbClr val="DCF2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6821" y="4343400"/>
            <a:ext cx="3657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Smoke-тести OK → реліз іде далі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2375" y="4768217"/>
            <a:ext cx="5073650" cy="471170"/>
          </a:xfrm>
          <a:prstGeom prst="roundRect">
            <a:avLst>
              <a:gd name="adj" fmla="val 15499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56680" y="4871721"/>
            <a:ext cx="1282541" cy="264160"/>
          </a:xfrm>
          <a:prstGeom prst="roundRect">
            <a:avLst>
              <a:gd name="adj" fmla="val 19231"/>
            </a:avLst>
          </a:prstGeom>
          <a:solidFill>
            <a:srgbClr val="FBE3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ПРОЙДЕНО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40821" y="4897121"/>
            <a:ext cx="3429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Реліз зупинено, production не змінюється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38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LIVE DEMO 2 — ПОРІВНЯЛЬНА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CI: файл .gitlab-ci.yml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26902"/>
            <a:ext cx="5964317" cy="2952750"/>
          </a:xfrm>
          <a:prstGeom prst="roundRect">
            <a:avLst>
              <a:gd name="adj" fmla="val 3333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9654" bIns="150877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.gitlab-ci.yml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stages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- build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- test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variables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MAVEN_OPTS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"-Dmaven.repo.local=.m2/repository"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build_job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stage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build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image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maven:3.8.5-openjdk-17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script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 mvn clean compile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39042" y="1826902"/>
            <a:ext cx="4436983" cy="2170430"/>
          </a:xfrm>
          <a:prstGeom prst="roundRect">
            <a:avLst>
              <a:gd name="adj" fmla="val 4535"/>
            </a:avLst>
          </a:prstGeom>
          <a:solidFill>
            <a:srgbClr val="EDF1F7"/>
          </a:solidFill>
          <a:ln w="6350">
            <a:solidFill>
              <a:srgbClr val="D9E0EA"/>
            </a:solidFill>
            <a:prstDash val="solid"/>
          </a:ln>
        </p:spPr>
        <p:txBody>
          <a:bodyPr wrap="square" lIns="176277" tIns="176277" rIns="55474" bIns="150877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test_job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stage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test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image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maven:3.8.5-openjdk-17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script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 mvn test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artifacts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when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 always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100" dirty="0">
                <a:solidFill>
                  <a:srgbClr val="2156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paths</a:t>
            </a: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- target/surefire-reports/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35867" y="4152900"/>
            <a:ext cx="457663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always</a:t>
            </a: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аналог if: always() з GitHub Actions.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14 · ТІ САМІ ПОНЯТТЯ — РІЗНІ КЛЮЧОВІ СЛОВА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vs GitLab CI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422908"/>
              </p:ext>
            </p:extLst>
          </p:nvPr>
        </p:nvGraphicFramePr>
        <p:xfrm>
          <a:off x="822959" y="1833887"/>
          <a:ext cx="10491586" cy="2498090"/>
        </p:xfrm>
        <a:graphic>
          <a:graphicData uri="http://schemas.openxmlformats.org/drawingml/2006/table">
            <a:tbl>
              <a:tblPr/>
              <a:tblGrid>
                <a:gridCol w="2517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Поняття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GitLab CI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Файл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.github/workflows/*.yml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.gitlab-ci.yml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8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Етапи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 + needs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Середовище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runs-on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(Docker)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Артефакти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upload-artifact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artifacts: paths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Завжди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if: always()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when: always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Секрети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secrets.NAME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 Variables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55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55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PRACTICAL FLOW · ЦИКЛ, ЯКИЙ МАЄ ЗАСВОЇТИ КОЖЕН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7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життєвий цикл розробки та перевірки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0"/>
            <a:ext cx="2520950" cy="1592580"/>
          </a:xfrm>
          <a:prstGeom prst="roundRect">
            <a:avLst>
              <a:gd name="adj" fmla="val 618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21080" y="2032000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1080" y="2463800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080" y="278765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 в коді локально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26890"/>
            <a:ext cx="2520950" cy="1592580"/>
          </a:xfrm>
          <a:prstGeom prst="roundRect">
            <a:avLst>
              <a:gd name="adj" fmla="val 618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00780" y="2032000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0780" y="2463800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Push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0780" y="278765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Відправка в репозиторій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26890"/>
            <a:ext cx="2520950" cy="1592580"/>
          </a:xfrm>
          <a:prstGeom prst="roundRect">
            <a:avLst>
              <a:gd name="adj" fmla="val 618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80480" y="2032000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80480" y="2463800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starts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0480" y="2787650"/>
            <a:ext cx="21740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Пайплайн стартує автоматично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26890"/>
            <a:ext cx="2520950" cy="1592580"/>
          </a:xfrm>
          <a:prstGeom prst="roundRect">
            <a:avLst>
              <a:gd name="adj" fmla="val 6180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060180" y="2032000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60180" y="2463800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0180" y="278765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Компіляція й запуск тестів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578225"/>
            <a:ext cx="2520950" cy="1379220"/>
          </a:xfrm>
          <a:prstGeom prst="roundRect">
            <a:avLst>
              <a:gd name="adj" fmla="val 713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21080" y="3783335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21080" y="4215135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1080" y="4538985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тест упав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5675" y="3578225"/>
            <a:ext cx="2520950" cy="1379220"/>
          </a:xfrm>
          <a:prstGeom prst="roundRect">
            <a:avLst>
              <a:gd name="adj" fmla="val 713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00780" y="3783335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00780" y="4215135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logs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00780" y="4538985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Аналіз логів в UI CI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5375" y="3578225"/>
            <a:ext cx="2520950" cy="1379220"/>
          </a:xfrm>
          <a:prstGeom prst="roundRect">
            <a:avLst>
              <a:gd name="adj" fmla="val 713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380480" y="3783335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5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80480" y="4215135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Push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80480" y="4538985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Виправлення помилки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5075" y="3578225"/>
            <a:ext cx="2520950" cy="1379220"/>
          </a:xfrm>
          <a:prstGeom prst="roundRect">
            <a:avLst>
              <a:gd name="adj" fmla="val 7136"/>
            </a:avLst>
          </a:prstGeom>
          <a:solidFill>
            <a:srgbClr val="FEFEFD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060180" y="3783335"/>
            <a:ext cx="21740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60180" y="4215135"/>
            <a:ext cx="217406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GREEN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60180" y="4538985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Merge!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55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та Continuous Testing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0" y="6238255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38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5463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uk-UA" sz="6000" b="1" dirty="0"/>
              <a:t>Дякую за увагу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600450"/>
            <a:ext cx="6226783" cy="126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uk-UA" sz="2000" dirty="0"/>
              <a:t>Лінка на репозиторій з прикладом: </a:t>
            </a:r>
            <a:r>
              <a:rPr lang="en-US" sz="2000" dirty="0">
                <a:hlinkClick r:id="rId3"/>
              </a:rPr>
              <a:t>https://github.com/AlexAT-dev/ci-cd-ct-demo</a:t>
            </a:r>
            <a:r>
              <a:rPr lang="uk-UA" sz="2000" dirty="0"/>
              <a:t> 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156D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51533-B4E6-E625-0D96-EE42FFD02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559" y="3371850"/>
            <a:ext cx="3197833" cy="31978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/CD та Continuous Testing">
  <a:themeElements>
    <a:clrScheme name="CI/CD та Continuous Testing">
      <a:dk1>
        <a:srgbClr val="14213D"/>
      </a:dk1>
      <a:lt1>
        <a:srgbClr val="F7F8FA"/>
      </a:lt1>
      <a:dk2>
        <a:srgbClr val="4D576C"/>
      </a:dk2>
      <a:lt2>
        <a:srgbClr val="E0E3E7"/>
      </a:lt2>
      <a:accent1>
        <a:srgbClr val="2156D9"/>
      </a:accent1>
      <a:accent2>
        <a:srgbClr val="C2410C"/>
      </a:accent2>
      <a:accent3>
        <a:srgbClr val="15803D"/>
      </a:accent3>
      <a:accent4>
        <a:srgbClr val="1E3A8A"/>
      </a:accent4>
      <a:accent5>
        <a:srgbClr val="5B6474"/>
      </a:accent5>
      <a:accent6>
        <a:srgbClr val="4A5568"/>
      </a:accent6>
      <a:hlink>
        <a:srgbClr val="0563C1"/>
      </a:hlink>
      <a:folHlink>
        <a:srgbClr val="954F72"/>
      </a:folHlink>
    </a:clrScheme>
    <a:fontScheme name="CI/CD та Continuous Tes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5640</Words>
  <Application>Microsoft Office PowerPoint</Application>
  <PresentationFormat>Widescreen</PresentationFormat>
  <Paragraphs>888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Courier New</vt:lpstr>
      <vt:lpstr>CI/CD та Continuous Testing</vt:lpstr>
      <vt:lpstr>CI/CD та Continuous Testing</vt:lpstr>
      <vt:lpstr>Чотири ідеї, які варто запам’ятати</vt:lpstr>
      <vt:lpstr>План лекції</vt:lpstr>
      <vt:lpstr>Навіщо взагалі CI/CD?</vt:lpstr>
      <vt:lpstr>Як народжується Integration Hell</vt:lpstr>
      <vt:lpstr>Як народжується Integration Hell</vt:lpstr>
      <vt:lpstr>Що таке CI (Continuous Integration)?</vt:lpstr>
      <vt:lpstr>Алгоритм CI після Push / Pull Request</vt:lpstr>
      <vt:lpstr>Що таке CD: Delivery vs Deployment</vt:lpstr>
      <vt:lpstr>Що таке Continuous Testing?</vt:lpstr>
      <vt:lpstr>Як Continuous Testing пов’язаний із CI/CD?</vt:lpstr>
      <vt:lpstr>Які тести використовують у Continuous Testing?</vt:lpstr>
      <vt:lpstr>Інтернет-магазин і GitHub Actions</vt:lpstr>
      <vt:lpstr>Чим відрізняються CI, CD і CT?</vt:lpstr>
      <vt:lpstr>Що таке Pipeline (Пайплайн)?</vt:lpstr>
      <vt:lpstr>Stage, Job, Workflow та Runner</vt:lpstr>
      <vt:lpstr>Шлях коду: від push до вердикту</vt:lpstr>
      <vt:lpstr>Події та тригери запуску (Triggers)</vt:lpstr>
      <vt:lpstr>Три пайплайни — три швидкості</vt:lpstr>
      <vt:lpstr>Організація Jobs та Stages</vt:lpstr>
      <vt:lpstr>Fail-Fast (швидка відмова)</vt:lpstr>
      <vt:lpstr>Падіння — на першій хвилині, а не на сороковій</vt:lpstr>
      <vt:lpstr>Continuous Testing: що і скільки запускається</vt:lpstr>
      <vt:lpstr>Практична матриця запуску тестів</vt:lpstr>
      <vt:lpstr>Зв’язок CI/CD із Flaky Tests</vt:lpstr>
      <vt:lpstr>Test Reports та Artifacts</vt:lpstr>
      <vt:lpstr>Secrets та Environment Variables</vt:lpstr>
      <vt:lpstr>Runner / Agent</vt:lpstr>
      <vt:lpstr>Проєкт для демо: Shop Pricing API</vt:lpstr>
      <vt:lpstr>GitHub Actions: файл ci.yml</vt:lpstr>
      <vt:lpstr>Покроковий сценарій демонстрації</vt:lpstr>
      <vt:lpstr>Червоний PR: що бачить розробник</vt:lpstr>
      <vt:lpstr>Кожен рівень тестів ловить свої помилки</vt:lpstr>
      <vt:lpstr>CD: шлях від main до production</vt:lpstr>
      <vt:lpstr>GitLab CI: файл .gitlab-ci.yml</vt:lpstr>
      <vt:lpstr>GitHub Actions vs GitLab CI</vt:lpstr>
      <vt:lpstr>Повний життєвий цикл розробки та перевірки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та Continuous Testing</dc:title>
  <dc:subject/>
  <dc:creator/>
  <cp:lastModifiedBy>Alex Atvinovskyi</cp:lastModifiedBy>
  <cp:revision>10</cp:revision>
  <dcterms:created xsi:type="dcterms:W3CDTF">2026-10-27T18:09:40Z</dcterms:created>
  <dcterms:modified xsi:type="dcterms:W3CDTF">2026-10-27T23:33:40Z</dcterms:modified>
</cp:coreProperties>
</file>